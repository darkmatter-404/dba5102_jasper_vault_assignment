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We are pricing Jasper Vault’s Perpetual Protect product: short-dated protection on BTC. In ten minutes we walk through the problem, what the data showed us, the model we chose and why, how it performs, how we manage risk, and what we could not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Perpetual Protect is short-dated protection on BTC: a trader pays a premium, and if BTC moves against them within the protection window, Jasper Vault pays out the move. Today JV prices it as a Black-Scholes base price plus a markup from trading signals. The chart shows each month’s premium split into what JV paid out (grey) and what it kept (orange). Volume grew fast: from 211 orders and 1.1 thousand USDC of premium in February to 2,571 orders and 108 thousand USDC in July. But profit stayed small, between a loss of 453 and a gain of 6,257 USDC a month. Over February to July, JV collected 248 thousand USDC and paid out 231 thousand, so it kept only about 7 percent. Our job was to price 4,155 new orders “cheap and good”, and JV was clear that simply raising every price is not a valid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stood out in the training data. First, risk differs by product: JV pays out more than it collects on 4-hour orders, but keeps most of the premium on 30-minute and 24-hour orders. (The 12-hour product has only 46 orders and is left out of the chart.) Second, risk differs by hour: BTC moves far more just after the New York stock market opens, and JV’s base price does not account for that. Third, a handful of orders and days decide the result: the top 1% of orders took a third of all payouts, and JV’s five worst days lost more than its whole six-month profit. A good price should follow these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final model, built by Maksim, follows one simple idea: work out what an order is expected to pay out, then add a margin. Step 1 forecasts how far BTC will move during the protection window, using recent volatility over four horizons, the time of day in New York, and scheduled US releases such as CPI, the jobs report and Fed decisions. Step 2 turns that move into fair value, the expected payout, with the Black-Scholes formula. Step 3 adds a 25% margin. Step 4 never lets the price fall below JV’s current base price. This matches the pricing idea from the course: choose the price that maximises demand times the margin over expected cost. The example shows one real order. It also lost money, at our price and at JV’s, which is why we judge a model on thousands of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opens up Step 1, the forecast of how far BTC will move. Data: we used the 1-minute BTC/USDC candles supplied with the case, from January to mid-October 2026, and a calendar of scheduled US releases (CPI, the jobs report and Fed decisions) taken from the official release pages. For every order we only use candles that had already closed before the order was placed, so the model never sees the future. Prediction: we look back at many past windows of the same length, one every five minutes, and record how far BTC moved in each. A Poisson regression, one per product length, learns how that move size depends on recent volatility over four horizons, the time of day in New York, and whether a release falls inside the window. Its output is the expected size of the move, which Step 2 turns into fair value. Checks: every month is forecast by a model fitted only on earlier months. Over February to July, actual payouts were 0.98 times fair value, close to the target of 1.0, although single months ranged from 0.85 to 1.41. Order size, direction, volatility regimes, US holidays, and news and sentiment were all tested and dropped because they did not improve the forecast reliably.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team member built and tested a different idea, and we compared them on the same orders against JV’s six criteria: profit, sensible pricing factors, market conditions, commercial reasonableness, performance on unseen data, and practicality. Maksim’s fair-value model was the only one to meet all six, so it became the core. Chris found a real signal in JV’s open book: orders that go against the crowded side pay out more. But a flat price rise of the same size did just as well, so we keep it as an optional add-on and a risk signal. Subham’s hybrid was beaten by its own simple benchmark. Aman’s version kept JV’s price level but earned less than JV in July. News, social media and LLM signals, and extra market data such as implied volatility, improved forecasts at best but never improved prices. To stay honest, July was held out and every adoption rule was written down before we looked at the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the model the way it would be used: each month priced by a model fitted only on the months before it. With buyers behaving as before, the model made more than JV’s actual prices in every month from February to July. In July it made 22,187 USDC more, and the 90% range from resampling whole days stays well above zero. Since we cannot observe demand, we also assumed that higher prices lose some buyers; the model still made 10,782 USDC more in July. The honest caveat: if buyers only accept prices no higher than JV’s, the model earns slightly less than JV in July. That is the main commercial risk, and it is why demand needs to be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JV told us that raising every price is not a solution, so we checked that the model prices better, not just higher. The chart shows the loss ratio by product. At JV’s price, 4-hour orders lose money and 8-hour orders only break even. At the model’s price, every product sits well below break-even, because the model charges more where the risk is and less where it is not. 58% of orders actually get a lower price than JV charged. On the 544 August orders where we can see JV’s own price, the model is about 4% cheaper overall. The model also ranks risk: the orders it prices higher really do pay out more. To be fair, in training the model charged about 17 to 21% more than JV on average, and a flat raise to the same total did about as well there. The model’s advantage is that it needs no JV price at all and sets each price from the risk of that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JV earns at most the premium on each order, but its loss is open-ended, and losses bunch on a few days when BTC trends and the crowd is right. No price set at the time of an order can foresee those days, so we manage that risk with a separate rule rather than by raising prices. Maksim’s exposure cap pauses new sales in one direction while open protection in that direction is above a limit. The table shows the trade-off on training data: a 250,000 USDC cap gives up about 11% of profit and improves the worst day from −8,399 to −6,594 USDC. The cap size is really JV’s choice of risk appetite. Chris’s order-flow signal supports this: orders that go against JV’s crowded side pay out more, which is exactly when exposure builds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limitation is demand: our data only contains orders that were bought, so we cannot see how many traders a higher price would drive away. Every buyer-response rule we used is an assumption. Second, trending months can lose money at any price. After the prices were frozen, the team ran one agreed check on the new orders: August lost money as BTC rose 25%, and JV’s own prices lost money too where we can see them, while September and October were profitable. No price was changed after that check. Third, we report gross underwriting profit only, without fees, funding or capital costs. And some groups, like 12-hour and 24-hour orders, are small. For future work, the most valuable step is a small randomised price test to measure demand directly. JV can also use its live order book for the cap and the order-flow loading, refit the model monthly, and extend it to out-of-the-money strikes and on-chain deployment through an oracle.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recommend that JV price each Perpetual Protect order from its expected payout plus a 25% margin, never below the current base price. That gives 4,155 prices for the new orders, about 4% below JV’s own prices where we can see them, while beating JV in every training month. Second, manage the trending-day risk with an exposure cap of 250,000 USDC per direction rather than by raising prices. Third, before changing the margin, run a small price test to learn how buyers actually respond.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A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E2A36"/>
                </a:solidFill>
                <a:latin typeface="Arial" pitchFamily="34" charset="0"/>
                <a:ea typeface="Arial" pitchFamily="34" charset="-122"/>
                <a:cs typeface="Arial"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70670"/>
            <a:ext cx="10566400" cy="4174530"/>
          </a:xfrm>
          <a:prstGeom prst="rect">
            <a:avLst/>
          </a:prstGeom>
          <a:noFill/>
          <a:ln/>
        </p:spPr>
        <p:txBody>
          <a:bodyPr wrap="square" lIns="0" tIns="0" rIns="0" bIns="0" rtlCol="0" anchor="t"/>
          <a:lstStyle>
            <a:lvl1pPr algn="l" indent="0" marL="0">
              <a:lnSpc>
                <a:spcPct val="140000"/>
              </a:lnSpc>
              <a:buNone/>
              <a:defRPr lang="en-US" sz="1600" dirty="0">
                <a:solidFill>
                  <a:srgbClr val="1E2A36"/>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E2A36"/>
                </a:solidFill>
                <a:latin typeface="Arial" pitchFamily="34" charset="0"/>
                <a:ea typeface="Arial" pitchFamily="34" charset="-122"/>
                <a:cs typeface="Arial"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70670"/>
            <a:ext cx="10566400" cy="4174530"/>
          </a:xfrm>
          <a:prstGeom prst="rect">
            <a:avLst/>
          </a:prstGeom>
          <a:noFill/>
          <a:ln/>
        </p:spPr>
        <p:txBody>
          <a:bodyPr wrap="square" lIns="0" tIns="0" rIns="0" bIns="0" rtlCol="0" anchor="t"/>
          <a:lstStyle>
            <a:lvl1pPr algn="l" indent="0" marL="0">
              <a:lnSpc>
                <a:spcPct val="140000"/>
              </a:lnSpc>
              <a:buNone/>
              <a:defRPr lang="en-US" sz="1600" dirty="0">
                <a:solidFill>
                  <a:srgbClr val="1E2A36"/>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B8C8"/>
                </a:solidFill>
                <a:latin typeface="Arial" pitchFamily="34" charset="0"/>
                <a:ea typeface="Arial" pitchFamily="34" charset="-122"/>
                <a:cs typeface="Arial" pitchFamily="34" charset="-120"/>
              </a:rPr>
              <a:t>DBA5102 · BLOCKCHAIN GROUP ASSIGNMENT · OPTION 2</a:t>
            </a:r>
            <a:endParaRPr lang="en-US" sz="1200" dirty="0"/>
          </a:p>
        </p:txBody>
      </p:sp>
      <p:pic>
        <p:nvPicPr>
          <p:cNvPr id="3" name="Image 0" descr="line">    </p:cNvPr>
          <p:cNvPicPr>
            <a:picLocks noChangeAspect="1"/>
          </p:cNvPicPr>
          <p:nvPr/>
        </p:nvPicPr>
        <p:blipFill>
          <a:blip r:embed="rId1"/>
          <a:srcRect l="0" r="0" t="0" b="0"/>
          <a:stretch/>
        </p:blipFill>
        <p:spPr>
          <a:xfrm>
            <a:off x="812800" y="2060029"/>
            <a:ext cx="1016000" cy="25400"/>
          </a:xfrm>
          <a:prstGeom prst="rect">
            <a:avLst/>
          </a:prstGeom>
        </p:spPr>
      </p:pic>
      <p:sp>
        <p:nvSpPr>
          <p:cNvPr id="4" name="Text 1"/>
          <p:cNvSpPr/>
          <p:nvPr>
            <p:ph type="title"/>
          </p:nvPr>
        </p:nvSpPr>
        <p:spPr>
          <a:xfrm>
            <a:off x="812800" y="2288629"/>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3F4EF"/>
                </a:solidFill>
                <a:latin typeface="Arial" pitchFamily="34" charset="0"/>
                <a:ea typeface="Arial" pitchFamily="34" charset="-122"/>
                <a:cs typeface="Arial" pitchFamily="34" charset="-120"/>
              </a:rPr>
              <a:t>Pricing Perpetual Protect</a:t>
            </a:r>
            <a:endParaRPr lang="en-US" sz="4800" dirty="0"/>
          </a:p>
        </p:txBody>
      </p:sp>
      <p:sp>
        <p:nvSpPr>
          <p:cNvPr id="5" name="Text 2"/>
          <p:cNvSpPr/>
          <p:nvPr/>
        </p:nvSpPr>
        <p:spPr>
          <a:xfrm>
            <a:off x="812800" y="3162350"/>
            <a:ext cx="850265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3DC"/>
                </a:solidFill>
                <a:latin typeface="Arial" pitchFamily="34" charset="0"/>
                <a:ea typeface="Arial" pitchFamily="34" charset="-122"/>
                <a:cs typeface="Arial" pitchFamily="34" charset="-120"/>
              </a:rPr>
              <a:t>A fair-value pricing model for Jasper Vault’s short-dated BTC protection</a:t>
            </a:r>
            <a:endParaRPr lang="en-US" sz="2000" dirty="0"/>
          </a:p>
        </p:txBody>
      </p:sp>
      <p:sp>
        <p:nvSpPr>
          <p:cNvPr id="6" name="Text 3"/>
          <p:cNvSpPr/>
          <p:nvPr/>
        </p:nvSpPr>
        <p:spPr>
          <a:xfrm>
            <a:off x="812800" y="4526459"/>
            <a:ext cx="352313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4EF"/>
                </a:solidFill>
                <a:latin typeface="Arial" pitchFamily="34" charset="0"/>
                <a:ea typeface="Arial" pitchFamily="34" charset="-122"/>
                <a:cs typeface="Arial" pitchFamily="34" charset="-120"/>
              </a:rPr>
              <a:t>Subham Kundu</a:t>
            </a:r>
            <a:endParaRPr lang="en-US" sz="1400" dirty="0"/>
          </a:p>
        </p:txBody>
      </p:sp>
      <p:sp>
        <p:nvSpPr>
          <p:cNvPr id="7" name="Text 4"/>
          <p:cNvSpPr/>
          <p:nvPr/>
        </p:nvSpPr>
        <p:spPr>
          <a:xfrm>
            <a:off x="812800" y="4800749"/>
            <a:ext cx="3523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8"/>
                </a:solidFill>
                <a:latin typeface="Arial" pitchFamily="34" charset="0"/>
                <a:ea typeface="Arial" pitchFamily="34" charset="-122"/>
                <a:cs typeface="Arial" pitchFamily="34" charset="-120"/>
              </a:rPr>
              <a:t>A0353711L</a:t>
            </a:r>
            <a:endParaRPr lang="en-US" sz="1200" dirty="0"/>
          </a:p>
        </p:txBody>
      </p:sp>
      <p:sp>
        <p:nvSpPr>
          <p:cNvPr id="8" name="Text 5"/>
          <p:cNvSpPr/>
          <p:nvPr/>
        </p:nvSpPr>
        <p:spPr>
          <a:xfrm>
            <a:off x="4385717" y="4526459"/>
            <a:ext cx="352313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4EF"/>
                </a:solidFill>
                <a:latin typeface="Arial" pitchFamily="34" charset="0"/>
                <a:ea typeface="Arial" pitchFamily="34" charset="-122"/>
                <a:cs typeface="Arial" pitchFamily="34" charset="-120"/>
              </a:rPr>
              <a:t>Aman Raj Mohta</a:t>
            </a:r>
            <a:endParaRPr lang="en-US" sz="1400" dirty="0"/>
          </a:p>
        </p:txBody>
      </p:sp>
      <p:sp>
        <p:nvSpPr>
          <p:cNvPr id="9" name="Text 6"/>
          <p:cNvSpPr/>
          <p:nvPr/>
        </p:nvSpPr>
        <p:spPr>
          <a:xfrm>
            <a:off x="4385717" y="4800749"/>
            <a:ext cx="3523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8"/>
                </a:solidFill>
                <a:latin typeface="Arial" pitchFamily="34" charset="0"/>
                <a:ea typeface="Arial" pitchFamily="34" charset="-122"/>
                <a:cs typeface="Arial" pitchFamily="34" charset="-120"/>
              </a:rPr>
              <a:t>A0356637R</a:t>
            </a:r>
            <a:endParaRPr lang="en-US" sz="1200" dirty="0"/>
          </a:p>
        </p:txBody>
      </p:sp>
      <p:sp>
        <p:nvSpPr>
          <p:cNvPr id="10" name="Text 7"/>
          <p:cNvSpPr/>
          <p:nvPr/>
        </p:nvSpPr>
        <p:spPr>
          <a:xfrm>
            <a:off x="7958634" y="4526459"/>
            <a:ext cx="352318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4EF"/>
                </a:solidFill>
                <a:latin typeface="Arial" pitchFamily="34" charset="0"/>
                <a:ea typeface="Arial" pitchFamily="34" charset="-122"/>
                <a:cs typeface="Arial" pitchFamily="34" charset="-120"/>
              </a:rPr>
              <a:t>Keerthivasan Radhakrishnan</a:t>
            </a:r>
            <a:endParaRPr lang="en-US" sz="1400" dirty="0"/>
          </a:p>
        </p:txBody>
      </p:sp>
      <p:sp>
        <p:nvSpPr>
          <p:cNvPr id="11" name="Text 8"/>
          <p:cNvSpPr/>
          <p:nvPr/>
        </p:nvSpPr>
        <p:spPr>
          <a:xfrm>
            <a:off x="7958634" y="4800749"/>
            <a:ext cx="35231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8"/>
                </a:solidFill>
                <a:latin typeface="Arial" pitchFamily="34" charset="0"/>
                <a:ea typeface="Arial" pitchFamily="34" charset="-122"/>
                <a:cs typeface="Arial" pitchFamily="34" charset="-120"/>
              </a:rPr>
              <a:t>A0356481X</a:t>
            </a:r>
            <a:endParaRPr lang="en-US" sz="1200" dirty="0"/>
          </a:p>
        </p:txBody>
      </p:sp>
      <p:sp>
        <p:nvSpPr>
          <p:cNvPr id="12" name="Text 9"/>
          <p:cNvSpPr/>
          <p:nvPr/>
        </p:nvSpPr>
        <p:spPr>
          <a:xfrm>
            <a:off x="812800" y="5166469"/>
            <a:ext cx="352313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4EF"/>
                </a:solidFill>
                <a:latin typeface="Arial" pitchFamily="34" charset="0"/>
                <a:ea typeface="Arial" pitchFamily="34" charset="-122"/>
                <a:cs typeface="Arial" pitchFamily="34" charset="-120"/>
              </a:rPr>
              <a:t>Maksim Silchenko</a:t>
            </a:r>
            <a:endParaRPr lang="en-US" sz="1400" dirty="0"/>
          </a:p>
        </p:txBody>
      </p:sp>
      <p:sp>
        <p:nvSpPr>
          <p:cNvPr id="13" name="Text 10"/>
          <p:cNvSpPr/>
          <p:nvPr/>
        </p:nvSpPr>
        <p:spPr>
          <a:xfrm>
            <a:off x="812800" y="5440759"/>
            <a:ext cx="3523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8"/>
                </a:solidFill>
                <a:latin typeface="Arial" pitchFamily="34" charset="0"/>
                <a:ea typeface="Arial" pitchFamily="34" charset="-122"/>
                <a:cs typeface="Arial" pitchFamily="34" charset="-120"/>
              </a:rPr>
              <a:t>A0314846Y</a:t>
            </a:r>
            <a:endParaRPr lang="en-US" sz="1200" dirty="0"/>
          </a:p>
        </p:txBody>
      </p:sp>
      <p:sp>
        <p:nvSpPr>
          <p:cNvPr id="14" name="Text 11"/>
          <p:cNvSpPr/>
          <p:nvPr/>
        </p:nvSpPr>
        <p:spPr>
          <a:xfrm>
            <a:off x="4385717" y="5166469"/>
            <a:ext cx="352313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4EF"/>
                </a:solidFill>
                <a:latin typeface="Arial" pitchFamily="34" charset="0"/>
                <a:ea typeface="Arial" pitchFamily="34" charset="-122"/>
                <a:cs typeface="Arial" pitchFamily="34" charset="-120"/>
              </a:rPr>
              <a:t>Aarogya Banepali</a:t>
            </a:r>
            <a:endParaRPr lang="en-US" sz="1400" dirty="0"/>
          </a:p>
        </p:txBody>
      </p:sp>
      <p:sp>
        <p:nvSpPr>
          <p:cNvPr id="15" name="Text 12"/>
          <p:cNvSpPr/>
          <p:nvPr/>
        </p:nvSpPr>
        <p:spPr>
          <a:xfrm>
            <a:off x="4385717" y="5440759"/>
            <a:ext cx="3523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8"/>
                </a:solidFill>
                <a:latin typeface="Arial" pitchFamily="34" charset="0"/>
                <a:ea typeface="Arial" pitchFamily="34" charset="-122"/>
                <a:cs typeface="Arial" pitchFamily="34" charset="-120"/>
              </a:rPr>
              <a:t>A0354365Y</a:t>
            </a:r>
            <a:endParaRPr lang="en-US" sz="1200" dirty="0"/>
          </a:p>
        </p:txBody>
      </p:sp>
      <p:sp>
        <p:nvSpPr>
          <p:cNvPr id="16" name="Text 13"/>
          <p:cNvSpPr/>
          <p:nvPr/>
        </p:nvSpPr>
        <p:spPr>
          <a:xfrm>
            <a:off x="7958634" y="5166469"/>
            <a:ext cx="352318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4EF"/>
                </a:solidFill>
                <a:latin typeface="Arial" pitchFamily="34" charset="0"/>
                <a:ea typeface="Arial" pitchFamily="34" charset="-122"/>
                <a:cs typeface="Arial" pitchFamily="34" charset="-120"/>
              </a:rPr>
              <a:t>Zhang Jiahe</a:t>
            </a:r>
            <a:endParaRPr lang="en-US" sz="1400" dirty="0"/>
          </a:p>
        </p:txBody>
      </p:sp>
      <p:sp>
        <p:nvSpPr>
          <p:cNvPr id="17" name="Text 14"/>
          <p:cNvSpPr/>
          <p:nvPr/>
        </p:nvSpPr>
        <p:spPr>
          <a:xfrm>
            <a:off x="7958634" y="5440759"/>
            <a:ext cx="35231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8"/>
                </a:solidFill>
                <a:latin typeface="Arial" pitchFamily="34" charset="0"/>
                <a:ea typeface="Arial" pitchFamily="34" charset="-122"/>
                <a:cs typeface="Arial" pitchFamily="34" charset="-120"/>
              </a:rPr>
              <a:t>A0350722M</a:t>
            </a:r>
            <a:endParaRPr lang="en-US" sz="1200" dirty="0"/>
          </a:p>
        </p:txBody>
      </p:sp>
      <p:sp>
        <p:nvSpPr>
          <p:cNvPr id="18" name="Text 15"/>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8"/>
                </a:solidFill>
                <a:latin typeface="Arial" pitchFamily="34" charset="0"/>
                <a:ea typeface="Arial" pitchFamily="34" charset="-122"/>
                <a:cs typeface="Arial" pitchFamily="34" charset="-120"/>
              </a:rPr>
              <a:t>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266AA"/>
                </a:solidFill>
                <a:latin typeface="Arial" pitchFamily="34" charset="0"/>
                <a:ea typeface="Arial" pitchFamily="34" charset="-122"/>
                <a:cs typeface="Arial" pitchFamily="34" charset="-120"/>
              </a:rPr>
              <a:t>01 · THE PROBLEM</a:t>
            </a:r>
            <a:endParaRPr lang="en-US" sz="1200" dirty="0"/>
          </a:p>
        </p:txBody>
      </p:sp>
      <p:sp>
        <p:nvSpPr>
          <p:cNvPr id="3" name="Text 1"/>
          <p:cNvSpPr/>
          <p:nvPr>
            <p:ph type="title"/>
          </p:nvPr>
        </p:nvSpPr>
        <p:spPr>
          <a:xfrm>
            <a:off x="812800" y="1127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E2A36"/>
                </a:solidFill>
                <a:latin typeface="Arial" pitchFamily="34" charset="0"/>
                <a:ea typeface="Arial" pitchFamily="34" charset="-122"/>
                <a:cs typeface="Arial" pitchFamily="34" charset="-120"/>
              </a:rPr>
              <a:t>JV keeps only 7% of the premium it collects</a:t>
            </a:r>
            <a:endParaRPr lang="en-US" sz="3000" dirty="0"/>
          </a:p>
        </p:txBody>
      </p:sp>
      <p:sp>
        <p:nvSpPr>
          <p:cNvPr id="4" name="Text 2"/>
          <p:cNvSpPr/>
          <p:nvPr/>
        </p:nvSpPr>
        <p:spPr>
          <a:xfrm>
            <a:off x="812800" y="1870670"/>
            <a:ext cx="483997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What Perpetual Protect is</a:t>
            </a:r>
            <a:endParaRPr lang="en-US" sz="1400" dirty="0"/>
          </a:p>
        </p:txBody>
      </p:sp>
      <p:sp>
        <p:nvSpPr>
          <p:cNvPr id="5" name="Text 3"/>
          <p:cNvSpPr/>
          <p:nvPr/>
        </p:nvSpPr>
        <p:spPr>
          <a:xfrm>
            <a:off x="812800" y="2170361"/>
            <a:ext cx="4839970"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Arial" pitchFamily="34" charset="0"/>
                <a:ea typeface="Arial" pitchFamily="34" charset="-122"/>
                <a:cs typeface="Arial" pitchFamily="34" charset="-120"/>
              </a:rPr>
              <a:t>A trader pays a premium for protection lasting 30 minutes to 24 hours. If BTC moves against the trader, JV pays out the move.</a:t>
            </a:r>
            <a:endParaRPr lang="en-US" sz="1400" dirty="0"/>
          </a:p>
        </p:txBody>
      </p:sp>
      <p:sp>
        <p:nvSpPr>
          <p:cNvPr id="6" name="Text 4"/>
          <p:cNvSpPr/>
          <p:nvPr/>
        </p:nvSpPr>
        <p:spPr>
          <a:xfrm>
            <a:off x="812800" y="3171031"/>
            <a:ext cx="483997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How JV prices it today</a:t>
            </a:r>
            <a:endParaRPr lang="en-US" sz="1400" dirty="0"/>
          </a:p>
        </p:txBody>
      </p:sp>
      <p:sp>
        <p:nvSpPr>
          <p:cNvPr id="7" name="Text 5"/>
          <p:cNvSpPr/>
          <p:nvPr/>
        </p:nvSpPr>
        <p:spPr>
          <a:xfrm>
            <a:off x="812800" y="3470721"/>
            <a:ext cx="483997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Arial" pitchFamily="34" charset="0"/>
                <a:ea typeface="Arial" pitchFamily="34" charset="-122"/>
                <a:cs typeface="Arial" pitchFamily="34" charset="-120"/>
              </a:rPr>
              <a:t>A Black-Scholes base price plus a markup from trading signals (RSI and Bollinger bands).</a:t>
            </a:r>
            <a:endParaRPr lang="en-US" sz="1400" dirty="0"/>
          </a:p>
        </p:txBody>
      </p:sp>
      <p:sp>
        <p:nvSpPr>
          <p:cNvPr id="8" name="Text 6"/>
          <p:cNvSpPr/>
          <p:nvPr/>
        </p:nvSpPr>
        <p:spPr>
          <a:xfrm>
            <a:off x="812800" y="4222502"/>
            <a:ext cx="483997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Our task</a:t>
            </a:r>
            <a:endParaRPr lang="en-US" sz="1400" dirty="0"/>
          </a:p>
        </p:txBody>
      </p:sp>
      <p:sp>
        <p:nvSpPr>
          <p:cNvPr id="9" name="Text 7"/>
          <p:cNvSpPr/>
          <p:nvPr/>
        </p:nvSpPr>
        <p:spPr>
          <a:xfrm>
            <a:off x="812800" y="4522192"/>
            <a:ext cx="483997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Arial" pitchFamily="34" charset="0"/>
                <a:ea typeface="Arial" pitchFamily="34" charset="-122"/>
                <a:cs typeface="Arial" pitchFamily="34" charset="-120"/>
              </a:rPr>
              <a:t>Price 4,155 new orders (31 Jul – 14 Oct 2026) “cheap and good”. JV’s rule: simply raising every price is not a solution.</a:t>
            </a:r>
            <a:endParaRPr lang="en-US" sz="1400" dirty="0"/>
          </a:p>
        </p:txBody>
      </p:sp>
      <p:sp>
        <p:nvSpPr>
          <p:cNvPr id="10" name="Text 8"/>
          <p:cNvSpPr/>
          <p:nvPr/>
        </p:nvSpPr>
        <p:spPr>
          <a:xfrm>
            <a:off x="5918200" y="1870670"/>
            <a:ext cx="562483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Monthly premium and JV’s profit (USDC)</a:t>
            </a:r>
            <a:endParaRPr lang="en-US" sz="1400" dirty="0"/>
          </a:p>
        </p:txBody>
      </p:sp>
      <p:sp>
        <p:nvSpPr>
          <p:cNvPr id="11" name="Shape 9"/>
          <p:cNvSpPr/>
          <p:nvPr/>
        </p:nvSpPr>
        <p:spPr>
          <a:xfrm>
            <a:off x="5918200" y="2264321"/>
            <a:ext cx="127000" cy="127000"/>
          </a:xfrm>
          <a:prstGeom prst="roundRect">
            <a:avLst>
              <a:gd name="adj" fmla="val 20000"/>
            </a:avLst>
          </a:prstGeom>
          <a:solidFill>
            <a:srgbClr val="8E969E"/>
          </a:solidFill>
          <a:ln/>
        </p:spPr>
      </p:sp>
      <p:sp>
        <p:nvSpPr>
          <p:cNvPr id="12" name="Text 10"/>
          <p:cNvSpPr/>
          <p:nvPr/>
        </p:nvSpPr>
        <p:spPr>
          <a:xfrm>
            <a:off x="6121400" y="2221161"/>
            <a:ext cx="14485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A36"/>
                </a:solidFill>
                <a:latin typeface="Arial" pitchFamily="34" charset="0"/>
                <a:ea typeface="Arial" pitchFamily="34" charset="-122"/>
                <a:cs typeface="Arial" pitchFamily="34" charset="-120"/>
              </a:rPr>
              <a:t>Paid out to traders</a:t>
            </a:r>
            <a:endParaRPr lang="en-US" sz="1200" dirty="0"/>
          </a:p>
        </p:txBody>
      </p:sp>
      <p:sp>
        <p:nvSpPr>
          <p:cNvPr id="13" name="Shape 11"/>
          <p:cNvSpPr/>
          <p:nvPr/>
        </p:nvSpPr>
        <p:spPr>
          <a:xfrm>
            <a:off x="7569944" y="2264321"/>
            <a:ext cx="127000" cy="127000"/>
          </a:xfrm>
          <a:prstGeom prst="roundRect">
            <a:avLst>
              <a:gd name="adj" fmla="val 20000"/>
            </a:avLst>
          </a:prstGeom>
          <a:solidFill>
            <a:srgbClr val="C47A35"/>
          </a:solidFill>
          <a:ln/>
        </p:spPr>
      </p:sp>
      <p:sp>
        <p:nvSpPr>
          <p:cNvPr id="14" name="Text 12"/>
          <p:cNvSpPr/>
          <p:nvPr/>
        </p:nvSpPr>
        <p:spPr>
          <a:xfrm>
            <a:off x="7773144" y="2221161"/>
            <a:ext cx="14635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A36"/>
                </a:solidFill>
                <a:latin typeface="Arial" pitchFamily="34" charset="0"/>
                <a:ea typeface="Arial" pitchFamily="34" charset="-122"/>
                <a:cs typeface="Arial" pitchFamily="34" charset="-120"/>
              </a:rPr>
              <a:t>Kept by JV (profit)</a:t>
            </a:r>
            <a:endParaRPr lang="en-US" sz="1200" dirty="0"/>
          </a:p>
        </p:txBody>
      </p:sp>
      <p:pic>
        <p:nvPicPr>
          <p:cNvPr id="15" name="Image 0" descr="Stacked bar chart of premium collected per month, split into paid out and kept: Feb 1.1K collected, loss 453; Mar 1.1K, kept 49; Apr 11.1K, kept 2,645; May 25.4K, kept 4,620; Jun 101.6K, kept 6,257; Jul 107.8K, kept 4,319 USDC">    </p:cNvPr>
          <p:cNvPicPr>
            <a:picLocks noChangeAspect="1"/>
          </p:cNvPicPr>
          <p:nvPr/>
        </p:nvPicPr>
        <p:blipFill>
          <a:blip r:embed="rId1"/>
          <a:srcRect l="0" r="0" t="0" b="0"/>
          <a:stretch/>
        </p:blipFill>
        <p:spPr>
          <a:xfrm>
            <a:off x="5918200" y="2536081"/>
            <a:ext cx="5461000" cy="2730500"/>
          </a:xfrm>
          <a:prstGeom prst="rect">
            <a:avLst/>
          </a:prstGeom>
        </p:spPr>
      </p:pic>
      <p:sp>
        <p:nvSpPr>
          <p:cNvPr id="16" name="Text 13"/>
          <p:cNvSpPr/>
          <p:nvPr/>
        </p:nvSpPr>
        <p:spPr>
          <a:xfrm>
            <a:off x="5892800" y="4504581"/>
            <a:ext cx="958850" cy="39112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E2A36"/>
                </a:solidFill>
                <a:latin typeface="Arial" pitchFamily="34" charset="0"/>
                <a:ea typeface="Arial" pitchFamily="34" charset="-122"/>
                <a:cs typeface="Arial" pitchFamily="34" charset="-120"/>
              </a:rPr>
              <a:t>−453</a:t>
            </a:r>
            <a:endParaRPr lang="en-US" sz="1200" dirty="0"/>
          </a:p>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of 1.1K</a:t>
            </a:r>
            <a:endParaRPr lang="en-US" sz="1200" dirty="0"/>
          </a:p>
        </p:txBody>
      </p:sp>
      <p:sp>
        <p:nvSpPr>
          <p:cNvPr id="17" name="Text 14"/>
          <p:cNvSpPr/>
          <p:nvPr/>
        </p:nvSpPr>
        <p:spPr>
          <a:xfrm>
            <a:off x="6800850" y="4510931"/>
            <a:ext cx="958850" cy="39112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E2A36"/>
                </a:solidFill>
                <a:latin typeface="Arial" pitchFamily="34" charset="0"/>
                <a:ea typeface="Arial" pitchFamily="34" charset="-122"/>
                <a:cs typeface="Arial" pitchFamily="34" charset="-120"/>
              </a:rPr>
              <a:t>+49</a:t>
            </a:r>
            <a:endParaRPr lang="en-US" sz="1200" dirty="0"/>
          </a:p>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of 1.1K</a:t>
            </a:r>
            <a:endParaRPr lang="en-US" sz="1200" dirty="0"/>
          </a:p>
        </p:txBody>
      </p:sp>
      <p:sp>
        <p:nvSpPr>
          <p:cNvPr id="18" name="Text 15"/>
          <p:cNvSpPr/>
          <p:nvPr/>
        </p:nvSpPr>
        <p:spPr>
          <a:xfrm>
            <a:off x="7715250" y="4326781"/>
            <a:ext cx="958850" cy="39112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E2A36"/>
                </a:solidFill>
                <a:latin typeface="Arial" pitchFamily="34" charset="0"/>
                <a:ea typeface="Arial" pitchFamily="34" charset="-122"/>
                <a:cs typeface="Arial" pitchFamily="34" charset="-120"/>
              </a:rPr>
              <a:t>+2,645</a:t>
            </a:r>
            <a:endParaRPr lang="en-US" sz="1200" dirty="0"/>
          </a:p>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of 11.1K</a:t>
            </a:r>
            <a:endParaRPr lang="en-US" sz="1200" dirty="0"/>
          </a:p>
        </p:txBody>
      </p:sp>
      <p:sp>
        <p:nvSpPr>
          <p:cNvPr id="19" name="Text 16"/>
          <p:cNvSpPr/>
          <p:nvPr/>
        </p:nvSpPr>
        <p:spPr>
          <a:xfrm>
            <a:off x="8623300" y="4079131"/>
            <a:ext cx="958850" cy="39112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E2A36"/>
                </a:solidFill>
                <a:latin typeface="Arial" pitchFamily="34" charset="0"/>
                <a:ea typeface="Arial" pitchFamily="34" charset="-122"/>
                <a:cs typeface="Arial" pitchFamily="34" charset="-120"/>
              </a:rPr>
              <a:t>+4,620</a:t>
            </a:r>
            <a:endParaRPr lang="en-US" sz="1200" dirty="0"/>
          </a:p>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of 25.4K</a:t>
            </a:r>
            <a:endParaRPr lang="en-US" sz="1200" dirty="0"/>
          </a:p>
        </p:txBody>
      </p:sp>
      <p:sp>
        <p:nvSpPr>
          <p:cNvPr id="20" name="Text 17"/>
          <p:cNvSpPr/>
          <p:nvPr/>
        </p:nvSpPr>
        <p:spPr>
          <a:xfrm>
            <a:off x="9531350" y="2758331"/>
            <a:ext cx="958850" cy="39112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E2A36"/>
                </a:solidFill>
                <a:latin typeface="Arial" pitchFamily="34" charset="0"/>
                <a:ea typeface="Arial" pitchFamily="34" charset="-122"/>
                <a:cs typeface="Arial" pitchFamily="34" charset="-120"/>
              </a:rPr>
              <a:t>+6,257</a:t>
            </a:r>
            <a:endParaRPr lang="en-US" sz="1200" dirty="0"/>
          </a:p>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of 101.6K</a:t>
            </a:r>
            <a:endParaRPr lang="en-US" sz="1200" dirty="0"/>
          </a:p>
        </p:txBody>
      </p:sp>
      <p:sp>
        <p:nvSpPr>
          <p:cNvPr id="21" name="Text 18"/>
          <p:cNvSpPr/>
          <p:nvPr/>
        </p:nvSpPr>
        <p:spPr>
          <a:xfrm>
            <a:off x="10445750" y="2650381"/>
            <a:ext cx="958850" cy="39112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E2A36"/>
                </a:solidFill>
                <a:latin typeface="Arial" pitchFamily="34" charset="0"/>
                <a:ea typeface="Arial" pitchFamily="34" charset="-122"/>
                <a:cs typeface="Arial" pitchFamily="34" charset="-120"/>
              </a:rPr>
              <a:t>+4,319</a:t>
            </a:r>
            <a:endParaRPr lang="en-US" sz="1200" dirty="0"/>
          </a:p>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of 107.8K</a:t>
            </a:r>
            <a:endParaRPr lang="en-US" sz="1200" dirty="0"/>
          </a:p>
        </p:txBody>
      </p:sp>
      <p:sp>
        <p:nvSpPr>
          <p:cNvPr id="22" name="Text 19"/>
          <p:cNvSpPr/>
          <p:nvPr/>
        </p:nvSpPr>
        <p:spPr>
          <a:xfrm>
            <a:off x="5892800" y="5050681"/>
            <a:ext cx="95885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Feb</a:t>
            </a:r>
            <a:endParaRPr lang="en-US" sz="1200" dirty="0"/>
          </a:p>
        </p:txBody>
      </p:sp>
      <p:sp>
        <p:nvSpPr>
          <p:cNvPr id="23" name="Text 20"/>
          <p:cNvSpPr/>
          <p:nvPr/>
        </p:nvSpPr>
        <p:spPr>
          <a:xfrm>
            <a:off x="6800850" y="5050681"/>
            <a:ext cx="95885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Mar</a:t>
            </a:r>
            <a:endParaRPr lang="en-US" sz="1200" dirty="0"/>
          </a:p>
        </p:txBody>
      </p:sp>
      <p:sp>
        <p:nvSpPr>
          <p:cNvPr id="24" name="Text 21"/>
          <p:cNvSpPr/>
          <p:nvPr/>
        </p:nvSpPr>
        <p:spPr>
          <a:xfrm>
            <a:off x="7715250" y="5050681"/>
            <a:ext cx="95885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Apr</a:t>
            </a:r>
            <a:endParaRPr lang="en-US" sz="1200" dirty="0"/>
          </a:p>
        </p:txBody>
      </p:sp>
      <p:sp>
        <p:nvSpPr>
          <p:cNvPr id="25" name="Text 22"/>
          <p:cNvSpPr/>
          <p:nvPr/>
        </p:nvSpPr>
        <p:spPr>
          <a:xfrm>
            <a:off x="8623300" y="5050681"/>
            <a:ext cx="95885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May</a:t>
            </a:r>
            <a:endParaRPr lang="en-US" sz="1200" dirty="0"/>
          </a:p>
        </p:txBody>
      </p:sp>
      <p:sp>
        <p:nvSpPr>
          <p:cNvPr id="26" name="Text 23"/>
          <p:cNvSpPr/>
          <p:nvPr/>
        </p:nvSpPr>
        <p:spPr>
          <a:xfrm>
            <a:off x="9531350" y="5050681"/>
            <a:ext cx="95885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Jun</a:t>
            </a:r>
            <a:endParaRPr lang="en-US" sz="1200" dirty="0"/>
          </a:p>
        </p:txBody>
      </p:sp>
      <p:sp>
        <p:nvSpPr>
          <p:cNvPr id="27" name="Text 24"/>
          <p:cNvSpPr/>
          <p:nvPr/>
        </p:nvSpPr>
        <p:spPr>
          <a:xfrm>
            <a:off x="10445750" y="5050681"/>
            <a:ext cx="95885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Jul</a:t>
            </a:r>
            <a:endParaRPr lang="en-US" sz="1200" dirty="0"/>
          </a:p>
        </p:txBody>
      </p:sp>
      <p:sp>
        <p:nvSpPr>
          <p:cNvPr id="28" name="Text 25"/>
          <p:cNvSpPr/>
          <p:nvPr/>
        </p:nvSpPr>
        <p:spPr>
          <a:xfrm>
            <a:off x="5918200" y="5368181"/>
            <a:ext cx="562483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3"/>
                </a:solidFill>
                <a:latin typeface="Arial" pitchFamily="34" charset="0"/>
                <a:ea typeface="Arial" pitchFamily="34" charset="-122"/>
                <a:cs typeface="Arial" pitchFamily="34" charset="-120"/>
              </a:rPr>
              <a:t>Bar height = premium collected. Orders grew from 211 (Feb) to 2,571 (Jul) and premium from 1.1K to 107.8K USDC, but profit stayed small.</a:t>
            </a:r>
            <a:endParaRPr lang="en-US" sz="1200" dirty="0"/>
          </a:p>
        </p:txBody>
      </p:sp>
      <p:sp>
        <p:nvSpPr>
          <p:cNvPr id="29" name="Text 26"/>
          <p:cNvSpPr/>
          <p:nvPr/>
        </p:nvSpPr>
        <p:spPr>
          <a:xfrm>
            <a:off x="812800" y="6238280"/>
            <a:ext cx="31680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Arial" pitchFamily="34" charset="0"/>
                <a:ea typeface="Arial" pitchFamily="34" charset="-122"/>
                <a:cs typeface="Arial" pitchFamily="34" charset="-120"/>
              </a:rPr>
              <a:t>Jasper Vault · Perpetual Protect pricing</a:t>
            </a:r>
            <a:endParaRPr lang="en-US" sz="1200" dirty="0"/>
          </a:p>
        </p:txBody>
      </p:sp>
      <p:sp>
        <p:nvSpPr>
          <p:cNvPr id="30" name="Text 27"/>
          <p:cNvSpPr/>
          <p:nvPr/>
        </p:nvSpPr>
        <p:spPr>
          <a:xfrm>
            <a:off x="11243618" y="6238280"/>
            <a:ext cx="13558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266AA"/>
                </a:solidFill>
                <a:latin typeface="Arial" pitchFamily="34" charset="0"/>
                <a:ea typeface="Arial" pitchFamily="34" charset="-122"/>
                <a:cs typeface="Arial" pitchFamily="34" charset="-120"/>
              </a:rPr>
              <a:t>02 · WHAT THE DATA SHOWED</a:t>
            </a:r>
            <a:endParaRPr lang="en-US" sz="1200" dirty="0"/>
          </a:p>
        </p:txBody>
      </p:sp>
      <p:sp>
        <p:nvSpPr>
          <p:cNvPr id="3" name="Text 1"/>
          <p:cNvSpPr/>
          <p:nvPr>
            <p:ph type="title"/>
          </p:nvPr>
        </p:nvSpPr>
        <p:spPr>
          <a:xfrm>
            <a:off x="812800" y="1127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E2A36"/>
                </a:solidFill>
                <a:latin typeface="Arial" pitchFamily="34" charset="0"/>
                <a:ea typeface="Arial" pitchFamily="34" charset="-122"/>
                <a:cs typeface="Arial" pitchFamily="34" charset="-120"/>
              </a:rPr>
              <a:t>Risk is uneven: by product, by hour and by day</a:t>
            </a:r>
            <a:endParaRPr lang="en-US" sz="3000" dirty="0"/>
          </a:p>
        </p:txBody>
      </p:sp>
      <p:sp>
        <p:nvSpPr>
          <p:cNvPr id="4" name="Text 2"/>
          <p:cNvSpPr/>
          <p:nvPr/>
        </p:nvSpPr>
        <p:spPr>
          <a:xfrm>
            <a:off x="812800" y="1870670"/>
            <a:ext cx="53632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JV’s loss ratio by product, Feb–Jul</a:t>
            </a:r>
            <a:endParaRPr lang="en-US" sz="1400" dirty="0"/>
          </a:p>
        </p:txBody>
      </p:sp>
      <p:sp>
        <p:nvSpPr>
          <p:cNvPr id="5" name="Text 3"/>
          <p:cNvSpPr/>
          <p:nvPr/>
        </p:nvSpPr>
        <p:spPr>
          <a:xfrm>
            <a:off x="812800" y="2170361"/>
            <a:ext cx="53632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Loss ratio = payouts ÷ premiums. Above 1.0, JV loses money.</a:t>
            </a:r>
            <a:endParaRPr lang="en-US" sz="1200" dirty="0"/>
          </a:p>
        </p:txBody>
      </p:sp>
      <p:pic>
        <p:nvPicPr>
          <p:cNvPr id="6" name="Image 0" descr="Bar chart of JV’s loss ratio by product: 30 min 0.65, 1 h 0.96, 2 h 0.88, 4 h 1.14, 8 h 1.00, 24 h 0.37, with a break-even line at 1.0">    </p:cNvPr>
          <p:cNvPicPr>
            <a:picLocks noChangeAspect="1"/>
          </p:cNvPicPr>
          <p:nvPr/>
        </p:nvPicPr>
        <p:blipFill>
          <a:blip r:embed="rId1"/>
          <a:srcRect l="0" r="0" t="0" b="0"/>
          <a:stretch/>
        </p:blipFill>
        <p:spPr>
          <a:xfrm>
            <a:off x="812800" y="2434481"/>
            <a:ext cx="5207000" cy="2984500"/>
          </a:xfrm>
          <a:prstGeom prst="rect">
            <a:avLst/>
          </a:prstGeom>
        </p:spPr>
      </p:pic>
      <p:sp>
        <p:nvSpPr>
          <p:cNvPr id="7" name="Text 4"/>
          <p:cNvSpPr/>
          <p:nvPr/>
        </p:nvSpPr>
        <p:spPr>
          <a:xfrm>
            <a:off x="990600" y="3596531"/>
            <a:ext cx="508000" cy="182860"/>
          </a:xfrm>
          <a:prstGeom prst="rect">
            <a:avLst/>
          </a:prstGeom>
          <a:solidFill>
            <a:srgbClr val="FAFAF7"/>
          </a:solidFill>
          <a:ln/>
        </p:spPr>
        <p:txBody>
          <a:bodyPr wrap="square" lIns="0" tIns="0" rIns="0" bIns="0" rtlCol="0" anchor="t">
            <a:normAutofit/>
          </a:bodyPr>
          <a:lstStyle/>
          <a:p>
            <a:pPr algn="ctr" indent="0" marL="0">
              <a:lnSpc>
                <a:spcPts val="1440"/>
              </a:lnSpc>
              <a:buNone/>
            </a:pPr>
            <a:r>
              <a:rPr lang="en-US" sz="1200" dirty="0">
                <a:solidFill>
                  <a:srgbClr val="1E2A36"/>
                </a:solidFill>
                <a:latin typeface="Arial" pitchFamily="34" charset="0"/>
                <a:ea typeface="Arial" pitchFamily="34" charset="-122"/>
                <a:cs typeface="Arial" pitchFamily="34" charset="-120"/>
              </a:rPr>
              <a:t>0.65</a:t>
            </a:r>
            <a:endParaRPr lang="en-US" sz="1200" dirty="0"/>
          </a:p>
        </p:txBody>
      </p:sp>
      <p:sp>
        <p:nvSpPr>
          <p:cNvPr id="8" name="Text 5"/>
          <p:cNvSpPr/>
          <p:nvPr/>
        </p:nvSpPr>
        <p:spPr>
          <a:xfrm>
            <a:off x="1860550" y="3050431"/>
            <a:ext cx="508000" cy="182860"/>
          </a:xfrm>
          <a:prstGeom prst="rect">
            <a:avLst/>
          </a:prstGeom>
          <a:solidFill>
            <a:srgbClr val="FAFAF7"/>
          </a:solidFill>
          <a:ln/>
        </p:spPr>
        <p:txBody>
          <a:bodyPr wrap="square" lIns="0" tIns="0" rIns="0" bIns="0" rtlCol="0" anchor="t">
            <a:normAutofit/>
          </a:bodyPr>
          <a:lstStyle/>
          <a:p>
            <a:pPr algn="ctr" indent="0" marL="0">
              <a:lnSpc>
                <a:spcPts val="1440"/>
              </a:lnSpc>
              <a:buNone/>
            </a:pPr>
            <a:r>
              <a:rPr lang="en-US" sz="1200" dirty="0">
                <a:solidFill>
                  <a:srgbClr val="1E2A36"/>
                </a:solidFill>
                <a:latin typeface="Arial" pitchFamily="34" charset="0"/>
                <a:ea typeface="Arial" pitchFamily="34" charset="-122"/>
                <a:cs typeface="Arial" pitchFamily="34" charset="-120"/>
              </a:rPr>
              <a:t>0.96</a:t>
            </a:r>
            <a:endParaRPr lang="en-US" sz="1200" dirty="0"/>
          </a:p>
        </p:txBody>
      </p:sp>
      <p:sp>
        <p:nvSpPr>
          <p:cNvPr id="9" name="Text 6"/>
          <p:cNvSpPr/>
          <p:nvPr/>
        </p:nvSpPr>
        <p:spPr>
          <a:xfrm>
            <a:off x="2730500" y="3202831"/>
            <a:ext cx="508000" cy="182860"/>
          </a:xfrm>
          <a:prstGeom prst="rect">
            <a:avLst/>
          </a:prstGeom>
          <a:solidFill>
            <a:srgbClr val="FAFAF7"/>
          </a:solidFill>
          <a:ln/>
        </p:spPr>
        <p:txBody>
          <a:bodyPr wrap="square" lIns="0" tIns="0" rIns="0" bIns="0" rtlCol="0" anchor="t">
            <a:normAutofit/>
          </a:bodyPr>
          <a:lstStyle/>
          <a:p>
            <a:pPr algn="ctr" indent="0" marL="0">
              <a:lnSpc>
                <a:spcPts val="1440"/>
              </a:lnSpc>
              <a:buNone/>
            </a:pPr>
            <a:r>
              <a:rPr lang="en-US" sz="1200" dirty="0">
                <a:solidFill>
                  <a:srgbClr val="1E2A36"/>
                </a:solidFill>
                <a:latin typeface="Arial" pitchFamily="34" charset="0"/>
                <a:ea typeface="Arial" pitchFamily="34" charset="-122"/>
                <a:cs typeface="Arial" pitchFamily="34" charset="-120"/>
              </a:rPr>
              <a:t>0.88</a:t>
            </a:r>
            <a:endParaRPr lang="en-US" sz="1200" dirty="0"/>
          </a:p>
        </p:txBody>
      </p:sp>
      <p:sp>
        <p:nvSpPr>
          <p:cNvPr id="10" name="Text 7"/>
          <p:cNvSpPr/>
          <p:nvPr/>
        </p:nvSpPr>
        <p:spPr>
          <a:xfrm>
            <a:off x="3594100" y="2745631"/>
            <a:ext cx="508000" cy="182860"/>
          </a:xfrm>
          <a:prstGeom prst="rect">
            <a:avLst/>
          </a:prstGeom>
          <a:solidFill>
            <a:srgbClr val="FAFAF7"/>
          </a:solidFill>
          <a:ln/>
        </p:spPr>
        <p:txBody>
          <a:bodyPr wrap="square" lIns="0" tIns="0" rIns="0" bIns="0" rtlCol="0" anchor="t">
            <a:normAutofit/>
          </a:bodyPr>
          <a:lstStyle/>
          <a:p>
            <a:pPr algn="ctr" indent="0" marL="0">
              <a:lnSpc>
                <a:spcPts val="1440"/>
              </a:lnSpc>
              <a:buNone/>
            </a:pPr>
            <a:r>
              <a:rPr lang="en-US" sz="1200" dirty="0">
                <a:solidFill>
                  <a:srgbClr val="1E2A36"/>
                </a:solidFill>
                <a:latin typeface="Arial" pitchFamily="34" charset="0"/>
                <a:ea typeface="Arial" pitchFamily="34" charset="-122"/>
                <a:cs typeface="Arial" pitchFamily="34" charset="-120"/>
              </a:rPr>
              <a:t>1.14</a:t>
            </a:r>
            <a:endParaRPr lang="en-US" sz="1200" dirty="0"/>
          </a:p>
        </p:txBody>
      </p:sp>
      <p:sp>
        <p:nvSpPr>
          <p:cNvPr id="11" name="Text 8"/>
          <p:cNvSpPr/>
          <p:nvPr/>
        </p:nvSpPr>
        <p:spPr>
          <a:xfrm>
            <a:off x="4464050" y="2980581"/>
            <a:ext cx="508000" cy="182860"/>
          </a:xfrm>
          <a:prstGeom prst="rect">
            <a:avLst/>
          </a:prstGeom>
          <a:solidFill>
            <a:srgbClr val="FAFAF7"/>
          </a:solidFill>
          <a:ln/>
        </p:spPr>
        <p:txBody>
          <a:bodyPr wrap="square" lIns="0" tIns="0" rIns="0" bIns="0" rtlCol="0" anchor="t">
            <a:normAutofit/>
          </a:bodyPr>
          <a:lstStyle/>
          <a:p>
            <a:pPr algn="ctr" indent="0" marL="0">
              <a:lnSpc>
                <a:spcPts val="1440"/>
              </a:lnSpc>
              <a:buNone/>
            </a:pPr>
            <a:r>
              <a:rPr lang="en-US" sz="1200" dirty="0">
                <a:solidFill>
                  <a:srgbClr val="1E2A36"/>
                </a:solidFill>
                <a:latin typeface="Arial" pitchFamily="34" charset="0"/>
                <a:ea typeface="Arial" pitchFamily="34" charset="-122"/>
                <a:cs typeface="Arial" pitchFamily="34" charset="-120"/>
              </a:rPr>
              <a:t>1.00</a:t>
            </a:r>
            <a:endParaRPr lang="en-US" sz="1200" dirty="0"/>
          </a:p>
        </p:txBody>
      </p:sp>
      <p:sp>
        <p:nvSpPr>
          <p:cNvPr id="12" name="Text 9"/>
          <p:cNvSpPr/>
          <p:nvPr/>
        </p:nvSpPr>
        <p:spPr>
          <a:xfrm>
            <a:off x="5334000" y="4098181"/>
            <a:ext cx="508000" cy="182860"/>
          </a:xfrm>
          <a:prstGeom prst="rect">
            <a:avLst/>
          </a:prstGeom>
          <a:solidFill>
            <a:srgbClr val="FAFAF7"/>
          </a:solidFill>
          <a:ln/>
        </p:spPr>
        <p:txBody>
          <a:bodyPr wrap="square" lIns="0" tIns="0" rIns="0" bIns="0" rtlCol="0" anchor="t">
            <a:normAutofit/>
          </a:bodyPr>
          <a:lstStyle/>
          <a:p>
            <a:pPr algn="ctr" indent="0" marL="0">
              <a:lnSpc>
                <a:spcPts val="1440"/>
              </a:lnSpc>
              <a:buNone/>
            </a:pPr>
            <a:r>
              <a:rPr lang="en-US" sz="1200" dirty="0">
                <a:solidFill>
                  <a:srgbClr val="1E2A36"/>
                </a:solidFill>
                <a:latin typeface="Arial" pitchFamily="34" charset="0"/>
                <a:ea typeface="Arial" pitchFamily="34" charset="-122"/>
                <a:cs typeface="Arial" pitchFamily="34" charset="-120"/>
              </a:rPr>
              <a:t>0.37</a:t>
            </a:r>
            <a:endParaRPr lang="en-US" sz="1200" dirty="0"/>
          </a:p>
        </p:txBody>
      </p:sp>
      <p:sp>
        <p:nvSpPr>
          <p:cNvPr id="13" name="Text 10"/>
          <p:cNvSpPr/>
          <p:nvPr/>
        </p:nvSpPr>
        <p:spPr>
          <a:xfrm>
            <a:off x="5105400" y="3253631"/>
            <a:ext cx="96520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E2A36"/>
                </a:solidFill>
                <a:latin typeface="Arial" pitchFamily="34" charset="0"/>
                <a:ea typeface="Arial" pitchFamily="34" charset="-122"/>
                <a:cs typeface="Arial" pitchFamily="34" charset="-120"/>
              </a:rPr>
              <a:t>Break-even</a:t>
            </a:r>
            <a:endParaRPr lang="en-US" sz="1200" dirty="0"/>
          </a:p>
        </p:txBody>
      </p:sp>
      <p:sp>
        <p:nvSpPr>
          <p:cNvPr id="14" name="Text 11"/>
          <p:cNvSpPr/>
          <p:nvPr/>
        </p:nvSpPr>
        <p:spPr>
          <a:xfrm>
            <a:off x="787400" y="5088781"/>
            <a:ext cx="92075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30 min</a:t>
            </a:r>
            <a:endParaRPr lang="en-US" sz="1200" dirty="0"/>
          </a:p>
        </p:txBody>
      </p:sp>
      <p:sp>
        <p:nvSpPr>
          <p:cNvPr id="15" name="Text 12"/>
          <p:cNvSpPr/>
          <p:nvPr/>
        </p:nvSpPr>
        <p:spPr>
          <a:xfrm>
            <a:off x="1657350" y="5088781"/>
            <a:ext cx="92075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1 h</a:t>
            </a:r>
            <a:endParaRPr lang="en-US" sz="1200" dirty="0"/>
          </a:p>
        </p:txBody>
      </p:sp>
      <p:sp>
        <p:nvSpPr>
          <p:cNvPr id="16" name="Text 13"/>
          <p:cNvSpPr/>
          <p:nvPr/>
        </p:nvSpPr>
        <p:spPr>
          <a:xfrm>
            <a:off x="2520950" y="5088781"/>
            <a:ext cx="92075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2 h</a:t>
            </a:r>
            <a:endParaRPr lang="en-US" sz="1200" dirty="0"/>
          </a:p>
        </p:txBody>
      </p:sp>
      <p:sp>
        <p:nvSpPr>
          <p:cNvPr id="17" name="Text 14"/>
          <p:cNvSpPr/>
          <p:nvPr/>
        </p:nvSpPr>
        <p:spPr>
          <a:xfrm>
            <a:off x="3390900" y="5088781"/>
            <a:ext cx="92075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4 h</a:t>
            </a:r>
            <a:endParaRPr lang="en-US" sz="1200" dirty="0"/>
          </a:p>
        </p:txBody>
      </p:sp>
      <p:sp>
        <p:nvSpPr>
          <p:cNvPr id="18" name="Text 15"/>
          <p:cNvSpPr/>
          <p:nvPr/>
        </p:nvSpPr>
        <p:spPr>
          <a:xfrm>
            <a:off x="4260850" y="5088781"/>
            <a:ext cx="92075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8 h</a:t>
            </a:r>
            <a:endParaRPr lang="en-US" sz="1200" dirty="0"/>
          </a:p>
        </p:txBody>
      </p:sp>
      <p:sp>
        <p:nvSpPr>
          <p:cNvPr id="19" name="Text 16"/>
          <p:cNvSpPr/>
          <p:nvPr/>
        </p:nvSpPr>
        <p:spPr>
          <a:xfrm>
            <a:off x="5124450" y="5088781"/>
            <a:ext cx="92075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24 h</a:t>
            </a:r>
            <a:endParaRPr lang="en-US" sz="1200" dirty="0"/>
          </a:p>
        </p:txBody>
      </p:sp>
      <p:sp>
        <p:nvSpPr>
          <p:cNvPr id="20" name="Shape 17"/>
          <p:cNvSpPr/>
          <p:nvPr/>
        </p:nvSpPr>
        <p:spPr>
          <a:xfrm>
            <a:off x="6429375" y="1873845"/>
            <a:ext cx="4946650" cy="1088281"/>
          </a:xfrm>
          <a:prstGeom prst="roundRect">
            <a:avLst>
              <a:gd name="adj" fmla="val 6710"/>
            </a:avLst>
          </a:prstGeom>
          <a:solidFill>
            <a:srgbClr val="F1F2EC"/>
          </a:solidFill>
          <a:ln w="6350">
            <a:solidFill>
              <a:srgbClr val="E1E3DD"/>
            </a:solidFill>
            <a:prstDash val="solid"/>
          </a:ln>
        </p:spPr>
      </p:sp>
      <p:sp>
        <p:nvSpPr>
          <p:cNvPr id="21" name="Text 18"/>
          <p:cNvSpPr/>
          <p:nvPr/>
        </p:nvSpPr>
        <p:spPr>
          <a:xfrm>
            <a:off x="6610350" y="2054820"/>
            <a:ext cx="472224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Products differ</a:t>
            </a:r>
            <a:endParaRPr lang="en-US" sz="1400" dirty="0"/>
          </a:p>
        </p:txBody>
      </p:sp>
      <p:sp>
        <p:nvSpPr>
          <p:cNvPr id="22" name="Text 19"/>
          <p:cNvSpPr/>
          <p:nvPr/>
        </p:nvSpPr>
        <p:spPr>
          <a:xfrm>
            <a:off x="6610350" y="2354511"/>
            <a:ext cx="472224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JV loses money on 4-hour orders and earns a lot on 30-minute and 24-hour orders.</a:t>
            </a:r>
            <a:endParaRPr lang="en-US" sz="1200" dirty="0"/>
          </a:p>
        </p:txBody>
      </p:sp>
      <p:sp>
        <p:nvSpPr>
          <p:cNvPr id="23" name="Shape 20"/>
          <p:cNvSpPr/>
          <p:nvPr/>
        </p:nvSpPr>
        <p:spPr>
          <a:xfrm>
            <a:off x="6429375" y="3095476"/>
            <a:ext cx="4946650" cy="1088281"/>
          </a:xfrm>
          <a:prstGeom prst="roundRect">
            <a:avLst>
              <a:gd name="adj" fmla="val 6710"/>
            </a:avLst>
          </a:prstGeom>
          <a:solidFill>
            <a:srgbClr val="F1F2EC"/>
          </a:solidFill>
          <a:ln w="6350">
            <a:solidFill>
              <a:srgbClr val="E1E3DD"/>
            </a:solidFill>
            <a:prstDash val="solid"/>
          </a:ln>
        </p:spPr>
      </p:sp>
      <p:sp>
        <p:nvSpPr>
          <p:cNvPr id="24" name="Text 21"/>
          <p:cNvSpPr/>
          <p:nvPr/>
        </p:nvSpPr>
        <p:spPr>
          <a:xfrm>
            <a:off x="6610350" y="3276451"/>
            <a:ext cx="472224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Hours differ</a:t>
            </a:r>
            <a:endParaRPr lang="en-US" sz="1400" dirty="0"/>
          </a:p>
        </p:txBody>
      </p:sp>
      <p:sp>
        <p:nvSpPr>
          <p:cNvPr id="25" name="Text 22"/>
          <p:cNvSpPr/>
          <p:nvPr/>
        </p:nvSpPr>
        <p:spPr>
          <a:xfrm>
            <a:off x="6610350" y="3576141"/>
            <a:ext cx="472224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BTC is far more volatile just after the New York stock market opens (3.8× the weekly average variance). JV’s base price ignores this.</a:t>
            </a:r>
            <a:endParaRPr lang="en-US" sz="1200" dirty="0"/>
          </a:p>
        </p:txBody>
      </p:sp>
      <p:sp>
        <p:nvSpPr>
          <p:cNvPr id="26" name="Shape 23"/>
          <p:cNvSpPr/>
          <p:nvPr/>
        </p:nvSpPr>
        <p:spPr>
          <a:xfrm>
            <a:off x="6429375" y="4317107"/>
            <a:ext cx="4946650" cy="1301601"/>
          </a:xfrm>
          <a:prstGeom prst="roundRect">
            <a:avLst>
              <a:gd name="adj" fmla="val 5610"/>
            </a:avLst>
          </a:prstGeom>
          <a:solidFill>
            <a:srgbClr val="F1F2EC"/>
          </a:solidFill>
          <a:ln w="6350">
            <a:solidFill>
              <a:srgbClr val="E1E3DD"/>
            </a:solidFill>
            <a:prstDash val="solid"/>
          </a:ln>
        </p:spPr>
      </p:sp>
      <p:sp>
        <p:nvSpPr>
          <p:cNvPr id="27" name="Text 24"/>
          <p:cNvSpPr/>
          <p:nvPr/>
        </p:nvSpPr>
        <p:spPr>
          <a:xfrm>
            <a:off x="6610350" y="4498082"/>
            <a:ext cx="472224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A few days decide the result</a:t>
            </a:r>
            <a:endParaRPr lang="en-US" sz="1400" dirty="0"/>
          </a:p>
        </p:txBody>
      </p:sp>
      <p:sp>
        <p:nvSpPr>
          <p:cNvPr id="28" name="Text 25"/>
          <p:cNvSpPr/>
          <p:nvPr/>
        </p:nvSpPr>
        <p:spPr>
          <a:xfrm>
            <a:off x="6610350" y="4797772"/>
            <a:ext cx="4722241"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The top 1% of orders took 33% of all payouts. JV’s five worst days lost 25,409 USDC, more than its whole six-month profit of 17,437 USDC.</a:t>
            </a:r>
            <a:endParaRPr lang="en-US" sz="1200" dirty="0"/>
          </a:p>
        </p:txBody>
      </p:sp>
      <p:sp>
        <p:nvSpPr>
          <p:cNvPr id="29" name="Text 26"/>
          <p:cNvSpPr/>
          <p:nvPr/>
        </p:nvSpPr>
        <p:spPr>
          <a:xfrm>
            <a:off x="812800" y="6238280"/>
            <a:ext cx="31680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Arial" pitchFamily="34" charset="0"/>
                <a:ea typeface="Arial" pitchFamily="34" charset="-122"/>
                <a:cs typeface="Arial" pitchFamily="34" charset="-120"/>
              </a:rPr>
              <a:t>Jasper Vault · Perpetual Protect pricing</a:t>
            </a:r>
            <a:endParaRPr lang="en-US" sz="1200" dirty="0"/>
          </a:p>
        </p:txBody>
      </p:sp>
      <p:sp>
        <p:nvSpPr>
          <p:cNvPr id="30" name="Text 27"/>
          <p:cNvSpPr/>
          <p:nvPr/>
        </p:nvSpPr>
        <p:spPr>
          <a:xfrm>
            <a:off x="11243618" y="6238280"/>
            <a:ext cx="13558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266AA"/>
                </a:solidFill>
                <a:latin typeface="Arial" pitchFamily="34" charset="0"/>
                <a:ea typeface="Arial" pitchFamily="34" charset="-122"/>
                <a:cs typeface="Arial" pitchFamily="34" charset="-120"/>
              </a:rPr>
              <a:t>03 · OUR APPROACH</a:t>
            </a:r>
            <a:endParaRPr lang="en-US" sz="1200" dirty="0"/>
          </a:p>
        </p:txBody>
      </p:sp>
      <p:sp>
        <p:nvSpPr>
          <p:cNvPr id="3" name="Text 1"/>
          <p:cNvSpPr/>
          <p:nvPr>
            <p:ph type="title"/>
          </p:nvPr>
        </p:nvSpPr>
        <p:spPr>
          <a:xfrm>
            <a:off x="812800" y="1127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E2A36"/>
                </a:solidFill>
                <a:latin typeface="Arial" pitchFamily="34" charset="0"/>
                <a:ea typeface="Arial" pitchFamily="34" charset="-122"/>
                <a:cs typeface="Arial" pitchFamily="34" charset="-120"/>
              </a:rPr>
              <a:t>Model the expected payout, then add a fair margin</a:t>
            </a:r>
            <a:endParaRPr lang="en-US" sz="3000" dirty="0"/>
          </a:p>
        </p:txBody>
      </p:sp>
      <p:sp>
        <p:nvSpPr>
          <p:cNvPr id="4" name="Shape 2"/>
          <p:cNvSpPr/>
          <p:nvPr/>
        </p:nvSpPr>
        <p:spPr>
          <a:xfrm>
            <a:off x="815975" y="1873845"/>
            <a:ext cx="2254250" cy="1862931"/>
          </a:xfrm>
          <a:prstGeom prst="roundRect">
            <a:avLst>
              <a:gd name="adj" fmla="val 3920"/>
            </a:avLst>
          </a:prstGeom>
          <a:solidFill>
            <a:srgbClr val="F1F2EC"/>
          </a:solidFill>
          <a:ln w="6350">
            <a:solidFill>
              <a:srgbClr val="E1E3DD"/>
            </a:solidFill>
            <a:prstDash val="solid"/>
          </a:ln>
        </p:spPr>
      </p:sp>
      <p:sp>
        <p:nvSpPr>
          <p:cNvPr id="5" name="Text 3"/>
          <p:cNvSpPr/>
          <p:nvPr/>
        </p:nvSpPr>
        <p:spPr>
          <a:xfrm>
            <a:off x="1022350" y="2080220"/>
            <a:ext cx="189674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266AA"/>
                </a:solidFill>
                <a:latin typeface="Arial" pitchFamily="34" charset="0"/>
                <a:ea typeface="Arial" pitchFamily="34" charset="-122"/>
                <a:cs typeface="Arial" pitchFamily="34" charset="-120"/>
              </a:rPr>
              <a:t>Step 1</a:t>
            </a:r>
            <a:endParaRPr lang="en-US" sz="1200" dirty="0"/>
          </a:p>
        </p:txBody>
      </p:sp>
      <p:sp>
        <p:nvSpPr>
          <p:cNvPr id="6" name="Text 4"/>
          <p:cNvSpPr/>
          <p:nvPr/>
        </p:nvSpPr>
        <p:spPr>
          <a:xfrm>
            <a:off x="1022350" y="2369741"/>
            <a:ext cx="1896745"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E2A36"/>
                </a:solidFill>
                <a:latin typeface="Arial" pitchFamily="34" charset="0"/>
                <a:ea typeface="Arial" pitchFamily="34" charset="-122"/>
                <a:cs typeface="Arial" pitchFamily="34" charset="-120"/>
              </a:rPr>
              <a:t>Forecast the BTC move</a:t>
            </a:r>
            <a:endParaRPr lang="en-US" sz="1400" dirty="0"/>
          </a:p>
        </p:txBody>
      </p:sp>
      <p:sp>
        <p:nvSpPr>
          <p:cNvPr id="7" name="Text 5"/>
          <p:cNvSpPr/>
          <p:nvPr/>
        </p:nvSpPr>
        <p:spPr>
          <a:xfrm>
            <a:off x="1022350" y="2890441"/>
            <a:ext cx="189674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Uses recent volatility, the time of day and scheduled US data releases.</a:t>
            </a:r>
            <a:endParaRPr lang="en-US" sz="1200" dirty="0"/>
          </a:p>
        </p:txBody>
      </p:sp>
      <p:pic>
        <p:nvPicPr>
          <p:cNvPr id="8" name="Image 0" descr="arrow-right">    </p:cNvPr>
          <p:cNvPicPr>
            <a:picLocks noChangeAspect="1"/>
          </p:cNvPicPr>
          <p:nvPr/>
        </p:nvPicPr>
        <p:blipFill>
          <a:blip r:embed="rId1"/>
          <a:srcRect l="0" r="0" t="0" b="0"/>
          <a:stretch/>
        </p:blipFill>
        <p:spPr>
          <a:xfrm>
            <a:off x="3175000" y="2729111"/>
            <a:ext cx="304800" cy="152400"/>
          </a:xfrm>
          <a:prstGeom prst="rect">
            <a:avLst/>
          </a:prstGeom>
        </p:spPr>
      </p:pic>
      <p:sp>
        <p:nvSpPr>
          <p:cNvPr id="9" name="Shape 6"/>
          <p:cNvSpPr/>
          <p:nvPr/>
        </p:nvSpPr>
        <p:spPr>
          <a:xfrm>
            <a:off x="3584575" y="1873845"/>
            <a:ext cx="2254250" cy="1862931"/>
          </a:xfrm>
          <a:prstGeom prst="roundRect">
            <a:avLst>
              <a:gd name="adj" fmla="val 3920"/>
            </a:avLst>
          </a:prstGeom>
          <a:solidFill>
            <a:srgbClr val="F1F2EC"/>
          </a:solidFill>
          <a:ln w="6350">
            <a:solidFill>
              <a:srgbClr val="E1E3DD"/>
            </a:solidFill>
            <a:prstDash val="solid"/>
          </a:ln>
        </p:spPr>
      </p:sp>
      <p:sp>
        <p:nvSpPr>
          <p:cNvPr id="10" name="Text 7"/>
          <p:cNvSpPr/>
          <p:nvPr/>
        </p:nvSpPr>
        <p:spPr>
          <a:xfrm>
            <a:off x="3790950" y="2080220"/>
            <a:ext cx="189674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266AA"/>
                </a:solidFill>
                <a:latin typeface="Arial" pitchFamily="34" charset="0"/>
                <a:ea typeface="Arial" pitchFamily="34" charset="-122"/>
                <a:cs typeface="Arial" pitchFamily="34" charset="-120"/>
              </a:rPr>
              <a:t>Step 2</a:t>
            </a:r>
            <a:endParaRPr lang="en-US" sz="1200" dirty="0"/>
          </a:p>
        </p:txBody>
      </p:sp>
      <p:sp>
        <p:nvSpPr>
          <p:cNvPr id="11" name="Text 8"/>
          <p:cNvSpPr/>
          <p:nvPr/>
        </p:nvSpPr>
        <p:spPr>
          <a:xfrm>
            <a:off x="3790950" y="2369741"/>
            <a:ext cx="189674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E2A36"/>
                </a:solidFill>
                <a:latin typeface="Arial" pitchFamily="34" charset="0"/>
                <a:ea typeface="Arial" pitchFamily="34" charset="-122"/>
                <a:cs typeface="Arial" pitchFamily="34" charset="-120"/>
              </a:rPr>
              <a:t>Turn it into fair value</a:t>
            </a:r>
            <a:endParaRPr lang="en-US" sz="1400" dirty="0"/>
          </a:p>
        </p:txBody>
      </p:sp>
      <p:sp>
        <p:nvSpPr>
          <p:cNvPr id="12" name="Text 9"/>
          <p:cNvSpPr/>
          <p:nvPr/>
        </p:nvSpPr>
        <p:spPr>
          <a:xfrm>
            <a:off x="3790950" y="2668191"/>
            <a:ext cx="189674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Black-Scholes converts the move into the order’s expected payout.</a:t>
            </a:r>
            <a:endParaRPr lang="en-US" sz="1200" dirty="0"/>
          </a:p>
        </p:txBody>
      </p:sp>
      <p:pic>
        <p:nvPicPr>
          <p:cNvPr id="13" name="Image 1" descr="arrow-right">    </p:cNvPr>
          <p:cNvPicPr>
            <a:picLocks noChangeAspect="1"/>
          </p:cNvPicPr>
          <p:nvPr/>
        </p:nvPicPr>
        <p:blipFill>
          <a:blip r:embed="rId2"/>
          <a:srcRect l="0" r="0" t="0" b="0"/>
          <a:stretch/>
        </p:blipFill>
        <p:spPr>
          <a:xfrm>
            <a:off x="5943600" y="2729111"/>
            <a:ext cx="304800" cy="152400"/>
          </a:xfrm>
          <a:prstGeom prst="rect">
            <a:avLst/>
          </a:prstGeom>
        </p:spPr>
      </p:pic>
      <p:sp>
        <p:nvSpPr>
          <p:cNvPr id="14" name="Shape 10"/>
          <p:cNvSpPr/>
          <p:nvPr/>
        </p:nvSpPr>
        <p:spPr>
          <a:xfrm>
            <a:off x="6353175" y="1873845"/>
            <a:ext cx="2254250" cy="1862931"/>
          </a:xfrm>
          <a:prstGeom prst="roundRect">
            <a:avLst>
              <a:gd name="adj" fmla="val 3920"/>
            </a:avLst>
          </a:prstGeom>
          <a:solidFill>
            <a:srgbClr val="F1F2EC"/>
          </a:solidFill>
          <a:ln w="6350">
            <a:solidFill>
              <a:srgbClr val="E1E3DD"/>
            </a:solidFill>
            <a:prstDash val="solid"/>
          </a:ln>
        </p:spPr>
      </p:sp>
      <p:sp>
        <p:nvSpPr>
          <p:cNvPr id="15" name="Text 11"/>
          <p:cNvSpPr/>
          <p:nvPr/>
        </p:nvSpPr>
        <p:spPr>
          <a:xfrm>
            <a:off x="6559550" y="2080220"/>
            <a:ext cx="189674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266AA"/>
                </a:solidFill>
                <a:latin typeface="Arial" pitchFamily="34" charset="0"/>
                <a:ea typeface="Arial" pitchFamily="34" charset="-122"/>
                <a:cs typeface="Arial" pitchFamily="34" charset="-120"/>
              </a:rPr>
              <a:t>Step 3</a:t>
            </a:r>
            <a:endParaRPr lang="en-US" sz="1200" dirty="0"/>
          </a:p>
        </p:txBody>
      </p:sp>
      <p:sp>
        <p:nvSpPr>
          <p:cNvPr id="16" name="Text 12"/>
          <p:cNvSpPr/>
          <p:nvPr/>
        </p:nvSpPr>
        <p:spPr>
          <a:xfrm>
            <a:off x="6559550" y="2369741"/>
            <a:ext cx="189674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E2A36"/>
                </a:solidFill>
                <a:latin typeface="Arial" pitchFamily="34" charset="0"/>
                <a:ea typeface="Arial" pitchFamily="34" charset="-122"/>
                <a:cs typeface="Arial" pitchFamily="34" charset="-120"/>
              </a:rPr>
              <a:t>Add a 25% margin</a:t>
            </a:r>
            <a:endParaRPr lang="en-US" sz="1400" dirty="0"/>
          </a:p>
        </p:txBody>
      </p:sp>
      <p:sp>
        <p:nvSpPr>
          <p:cNvPr id="17" name="Text 13"/>
          <p:cNvSpPr/>
          <p:nvPr/>
        </p:nvSpPr>
        <p:spPr>
          <a:xfrm>
            <a:off x="6559550" y="2668191"/>
            <a:ext cx="189674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Fair value × 1.25, so payouts are about 80% of premium on average.</a:t>
            </a:r>
            <a:endParaRPr lang="en-US" sz="1200" dirty="0"/>
          </a:p>
        </p:txBody>
      </p:sp>
      <p:pic>
        <p:nvPicPr>
          <p:cNvPr id="18" name="Image 2" descr="arrow-right">    </p:cNvPr>
          <p:cNvPicPr>
            <a:picLocks noChangeAspect="1"/>
          </p:cNvPicPr>
          <p:nvPr/>
        </p:nvPicPr>
        <p:blipFill>
          <a:blip r:embed="rId3"/>
          <a:srcRect l="0" r="0" t="0" b="0"/>
          <a:stretch/>
        </p:blipFill>
        <p:spPr>
          <a:xfrm>
            <a:off x="8712200" y="2729111"/>
            <a:ext cx="304800" cy="152400"/>
          </a:xfrm>
          <a:prstGeom prst="rect">
            <a:avLst/>
          </a:prstGeom>
        </p:spPr>
      </p:pic>
      <p:sp>
        <p:nvSpPr>
          <p:cNvPr id="19" name="Shape 14"/>
          <p:cNvSpPr/>
          <p:nvPr/>
        </p:nvSpPr>
        <p:spPr>
          <a:xfrm>
            <a:off x="9121775" y="1873845"/>
            <a:ext cx="2254250" cy="1862931"/>
          </a:xfrm>
          <a:prstGeom prst="roundRect">
            <a:avLst>
              <a:gd name="adj" fmla="val 3920"/>
            </a:avLst>
          </a:prstGeom>
          <a:solidFill>
            <a:srgbClr val="F1F2EC"/>
          </a:solidFill>
          <a:ln w="6350">
            <a:solidFill>
              <a:srgbClr val="E1E3DD"/>
            </a:solidFill>
            <a:prstDash val="solid"/>
          </a:ln>
        </p:spPr>
      </p:sp>
      <p:sp>
        <p:nvSpPr>
          <p:cNvPr id="20" name="Text 15"/>
          <p:cNvSpPr/>
          <p:nvPr/>
        </p:nvSpPr>
        <p:spPr>
          <a:xfrm>
            <a:off x="9328150" y="2080220"/>
            <a:ext cx="189674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266AA"/>
                </a:solidFill>
                <a:latin typeface="Arial" pitchFamily="34" charset="0"/>
                <a:ea typeface="Arial" pitchFamily="34" charset="-122"/>
                <a:cs typeface="Arial" pitchFamily="34" charset="-120"/>
              </a:rPr>
              <a:t>Step 4</a:t>
            </a:r>
            <a:endParaRPr lang="en-US" sz="1200" dirty="0"/>
          </a:p>
        </p:txBody>
      </p:sp>
      <p:sp>
        <p:nvSpPr>
          <p:cNvPr id="21" name="Text 16"/>
          <p:cNvSpPr/>
          <p:nvPr/>
        </p:nvSpPr>
        <p:spPr>
          <a:xfrm>
            <a:off x="9328150" y="2369741"/>
            <a:ext cx="189674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E2A36"/>
                </a:solidFill>
                <a:latin typeface="Arial" pitchFamily="34" charset="0"/>
                <a:ea typeface="Arial" pitchFamily="34" charset="-122"/>
                <a:cs typeface="Arial" pitchFamily="34" charset="-120"/>
              </a:rPr>
              <a:t>Keep a floor</a:t>
            </a:r>
            <a:endParaRPr lang="en-US" sz="1400" dirty="0"/>
          </a:p>
        </p:txBody>
      </p:sp>
      <p:sp>
        <p:nvSpPr>
          <p:cNvPr id="22" name="Text 17"/>
          <p:cNvSpPr/>
          <p:nvPr/>
        </p:nvSpPr>
        <p:spPr>
          <a:xfrm>
            <a:off x="9328150" y="2668191"/>
            <a:ext cx="189674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Never charge less than JV’s current base price.</a:t>
            </a:r>
            <a:endParaRPr lang="en-US" sz="1200" dirty="0"/>
          </a:p>
        </p:txBody>
      </p:sp>
      <p:sp>
        <p:nvSpPr>
          <p:cNvPr id="23" name="Shape 18"/>
          <p:cNvSpPr/>
          <p:nvPr/>
        </p:nvSpPr>
        <p:spPr>
          <a:xfrm>
            <a:off x="815975" y="3946327"/>
            <a:ext cx="10560050" cy="1565771"/>
          </a:xfrm>
          <a:prstGeom prst="roundRect">
            <a:avLst>
              <a:gd name="adj" fmla="val 4664"/>
            </a:avLst>
          </a:prstGeom>
          <a:noFill/>
          <a:ln w="6350">
            <a:solidFill>
              <a:srgbClr val="D9DCD6"/>
            </a:solidFill>
            <a:prstDash val="solid"/>
          </a:ln>
        </p:spPr>
      </p:sp>
      <p:sp>
        <p:nvSpPr>
          <p:cNvPr id="24" name="Text 19"/>
          <p:cNvSpPr/>
          <p:nvPr/>
        </p:nvSpPr>
        <p:spPr>
          <a:xfrm>
            <a:off x="1022350" y="4152702"/>
            <a:ext cx="10451719"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Example: 16 June 2026, a 1-hour put on 0.17 BTC</a:t>
            </a:r>
            <a:endParaRPr lang="en-US" sz="1400" dirty="0"/>
          </a:p>
        </p:txBody>
      </p:sp>
      <p:sp>
        <p:nvSpPr>
          <p:cNvPr id="25" name="Text 20"/>
          <p:cNvSpPr/>
          <p:nvPr/>
        </p:nvSpPr>
        <p:spPr>
          <a:xfrm>
            <a:off x="1022350" y="4503192"/>
            <a:ext cx="24559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Expected move</a:t>
            </a:r>
            <a:endParaRPr lang="en-US" sz="1200" dirty="0"/>
          </a:p>
        </p:txBody>
      </p:sp>
      <p:sp>
        <p:nvSpPr>
          <p:cNvPr id="26" name="Text 21"/>
          <p:cNvSpPr/>
          <p:nvPr/>
        </p:nvSpPr>
        <p:spPr>
          <a:xfrm>
            <a:off x="1022350" y="4741912"/>
            <a:ext cx="245595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0.66%</a:t>
            </a:r>
            <a:endParaRPr lang="en-US" sz="1400" dirty="0"/>
          </a:p>
        </p:txBody>
      </p:sp>
      <p:sp>
        <p:nvSpPr>
          <p:cNvPr id="27" name="Text 22"/>
          <p:cNvSpPr/>
          <p:nvPr/>
        </p:nvSpPr>
        <p:spPr>
          <a:xfrm>
            <a:off x="3609975" y="4503192"/>
            <a:ext cx="24559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Fair value</a:t>
            </a:r>
            <a:endParaRPr lang="en-US" sz="1200" dirty="0"/>
          </a:p>
        </p:txBody>
      </p:sp>
      <p:sp>
        <p:nvSpPr>
          <p:cNvPr id="28" name="Text 23"/>
          <p:cNvSpPr/>
          <p:nvPr/>
        </p:nvSpPr>
        <p:spPr>
          <a:xfrm>
            <a:off x="3609975" y="4741912"/>
            <a:ext cx="245595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217.85 USDC per BTC</a:t>
            </a:r>
            <a:endParaRPr lang="en-US" sz="1400" dirty="0"/>
          </a:p>
        </p:txBody>
      </p:sp>
      <p:sp>
        <p:nvSpPr>
          <p:cNvPr id="29" name="Text 24"/>
          <p:cNvSpPr/>
          <p:nvPr/>
        </p:nvSpPr>
        <p:spPr>
          <a:xfrm>
            <a:off x="6197600" y="4503192"/>
            <a:ext cx="24559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With margin (× 1.25)</a:t>
            </a:r>
            <a:endParaRPr lang="en-US" sz="1200" dirty="0"/>
          </a:p>
        </p:txBody>
      </p:sp>
      <p:sp>
        <p:nvSpPr>
          <p:cNvPr id="30" name="Text 25"/>
          <p:cNvSpPr/>
          <p:nvPr/>
        </p:nvSpPr>
        <p:spPr>
          <a:xfrm>
            <a:off x="6197600" y="4741912"/>
            <a:ext cx="245595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272.31 USDC per BTC</a:t>
            </a:r>
            <a:endParaRPr lang="en-US" sz="1400" dirty="0"/>
          </a:p>
        </p:txBody>
      </p:sp>
      <p:sp>
        <p:nvSpPr>
          <p:cNvPr id="31" name="Text 26"/>
          <p:cNvSpPr/>
          <p:nvPr/>
        </p:nvSpPr>
        <p:spPr>
          <a:xfrm>
            <a:off x="8785225" y="4503192"/>
            <a:ext cx="24559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Premium for 0.17 BTC</a:t>
            </a:r>
            <a:endParaRPr lang="en-US" sz="1200" dirty="0"/>
          </a:p>
        </p:txBody>
      </p:sp>
      <p:sp>
        <p:nvSpPr>
          <p:cNvPr id="32" name="Text 27"/>
          <p:cNvSpPr/>
          <p:nvPr/>
        </p:nvSpPr>
        <p:spPr>
          <a:xfrm>
            <a:off x="8785225" y="4741912"/>
            <a:ext cx="245595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46.35 USDC</a:t>
            </a:r>
            <a:endParaRPr lang="en-US" sz="1400" dirty="0"/>
          </a:p>
        </p:txBody>
      </p:sp>
      <p:sp>
        <p:nvSpPr>
          <p:cNvPr id="33" name="Text 28"/>
          <p:cNvSpPr/>
          <p:nvPr/>
        </p:nvSpPr>
        <p:spPr>
          <a:xfrm>
            <a:off x="1022350" y="5092402"/>
            <a:ext cx="104517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JV charged 28.23 USDC and this order paid out 84.07 USDC, so both prices lost here. A price is judged on thousands of orders, not one.</a:t>
            </a:r>
            <a:endParaRPr lang="en-US" sz="1200" dirty="0"/>
          </a:p>
        </p:txBody>
      </p:sp>
      <p:sp>
        <p:nvSpPr>
          <p:cNvPr id="34" name="Text 29"/>
          <p:cNvSpPr/>
          <p:nvPr/>
        </p:nvSpPr>
        <p:spPr>
          <a:xfrm>
            <a:off x="812800" y="6238280"/>
            <a:ext cx="31680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Arial" pitchFamily="34" charset="0"/>
                <a:ea typeface="Arial" pitchFamily="34" charset="-122"/>
                <a:cs typeface="Arial" pitchFamily="34" charset="-120"/>
              </a:rPr>
              <a:t>Jasper Vault · Perpetual Protect pricing</a:t>
            </a:r>
            <a:endParaRPr lang="en-US" sz="1200" dirty="0"/>
          </a:p>
        </p:txBody>
      </p:sp>
      <p:sp>
        <p:nvSpPr>
          <p:cNvPr id="35" name="Text 30"/>
          <p:cNvSpPr/>
          <p:nvPr/>
        </p:nvSpPr>
        <p:spPr>
          <a:xfrm>
            <a:off x="11243618" y="6238280"/>
            <a:ext cx="13558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266AA"/>
                </a:solidFill>
                <a:latin typeface="Arial" pitchFamily="34" charset="0"/>
                <a:ea typeface="Arial" pitchFamily="34" charset="-122"/>
                <a:cs typeface="Arial" pitchFamily="34" charset="-120"/>
              </a:rPr>
              <a:t>03 · OUR APPROACH</a:t>
            </a:r>
            <a:endParaRPr lang="en-US" sz="1200" dirty="0"/>
          </a:p>
        </p:txBody>
      </p:sp>
      <p:sp>
        <p:nvSpPr>
          <p:cNvPr id="3" name="Text 1"/>
          <p:cNvSpPr/>
          <p:nvPr>
            <p:ph type="title"/>
          </p:nvPr>
        </p:nvSpPr>
        <p:spPr>
          <a:xfrm>
            <a:off x="812800" y="1127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E2A36"/>
                </a:solidFill>
                <a:latin typeface="Arial" pitchFamily="34" charset="0"/>
                <a:ea typeface="Arial" pitchFamily="34" charset="-122"/>
                <a:cs typeface="Arial" pitchFamily="34" charset="-120"/>
              </a:rPr>
              <a:t>Step 1 in detail: forecasting the BTC move</a:t>
            </a:r>
            <a:endParaRPr lang="en-US" sz="3000" dirty="0"/>
          </a:p>
        </p:txBody>
      </p:sp>
      <p:sp>
        <p:nvSpPr>
          <p:cNvPr id="4" name="Shape 2"/>
          <p:cNvSpPr/>
          <p:nvPr/>
        </p:nvSpPr>
        <p:spPr>
          <a:xfrm>
            <a:off x="815975" y="1873845"/>
            <a:ext cx="3380284" cy="2564011"/>
          </a:xfrm>
          <a:prstGeom prst="roundRect">
            <a:avLst>
              <a:gd name="adj" fmla="val 2848"/>
            </a:avLst>
          </a:prstGeom>
          <a:solidFill>
            <a:srgbClr val="F1F2EC"/>
          </a:solidFill>
          <a:ln w="6350">
            <a:solidFill>
              <a:srgbClr val="E1E3DD"/>
            </a:solidFill>
            <a:prstDash val="solid"/>
          </a:ln>
        </p:spPr>
      </p:sp>
      <p:sp>
        <p:nvSpPr>
          <p:cNvPr id="5" name="Text 3"/>
          <p:cNvSpPr/>
          <p:nvPr/>
        </p:nvSpPr>
        <p:spPr>
          <a:xfrm>
            <a:off x="996950" y="2054820"/>
            <a:ext cx="310888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1. What data we collected</a:t>
            </a:r>
            <a:endParaRPr lang="en-US" sz="1400" dirty="0"/>
          </a:p>
        </p:txBody>
      </p:sp>
      <p:sp>
        <p:nvSpPr>
          <p:cNvPr id="6" name="Text 4"/>
          <p:cNvSpPr/>
          <p:nvPr/>
        </p:nvSpPr>
        <p:spPr>
          <a:xfrm>
            <a:off x="1108456" y="2405311"/>
            <a:ext cx="2989758" cy="1671241"/>
          </a:xfrm>
          <a:prstGeom prst="rect">
            <a:avLst/>
          </a:prstGeom>
          <a:noFill/>
          <a:ln/>
        </p:spPr>
        <p:txBody>
          <a:bodyPr wrap="square" lIns="0" tIns="0" rIns="0" bIns="0" rtlCol="0" anchor="t">
            <a:normAutofit/>
          </a:bodyPr>
          <a:lstStyle/>
          <a:p>
            <a:pPr algn="l" marL="142494" indent="-142494">
              <a:lnSpc>
                <a:spcPts val="1620"/>
              </a:lnSpc>
              <a:buSzPct val="100000"/>
              <a:buChar char="•"/>
            </a:pPr>
            <a:r>
              <a:rPr lang="en-US" sz="1200" dirty="0">
                <a:solidFill>
                  <a:srgbClr val="4A5563"/>
                </a:solidFill>
                <a:latin typeface="Arial" pitchFamily="34" charset="0"/>
                <a:ea typeface="Arial" pitchFamily="34" charset="-122"/>
                <a:cs typeface="Arial" pitchFamily="34" charset="-120"/>
              </a:rPr>
              <a:t>1-minute BTC/USDC price candles, 1 Jan – 14 Oct 2026 (412,080 candles), supplied with the case</a:t>
            </a:r>
            <a:endParaRPr lang="en-US" sz="1200" dirty="0"/>
          </a:p>
          <a:p>
            <a:pPr algn="l" marL="142494" indent="-142494">
              <a:lnSpc>
                <a:spcPts val="1620"/>
              </a:lnSpc>
              <a:buSzPct val="100000"/>
              <a:buChar char="•"/>
            </a:pPr>
            <a:r>
              <a:rPr lang="en-US" sz="1200" dirty="0">
                <a:solidFill>
                  <a:srgbClr val="4A5563"/>
                </a:solidFill>
                <a:latin typeface="Arial" pitchFamily="34" charset="0"/>
                <a:ea typeface="Arial" pitchFamily="34" charset="-122"/>
                <a:cs typeface="Arial" pitchFamily="34" charset="-120"/>
              </a:rPr>
              <a:t>The schedule of US releases (CPI, jobs report, Fed decisions), taken from the official release pages</a:t>
            </a:r>
            <a:endParaRPr lang="en-US" sz="1200" dirty="0"/>
          </a:p>
          <a:p>
            <a:pPr algn="l" marL="142494" indent="-142494">
              <a:lnSpc>
                <a:spcPts val="1620"/>
              </a:lnSpc>
              <a:buSzPct val="100000"/>
              <a:buChar char="•"/>
            </a:pPr>
            <a:r>
              <a:rPr lang="en-US" sz="1200" dirty="0">
                <a:solidFill>
                  <a:srgbClr val="4A5563"/>
                </a:solidFill>
                <a:latin typeface="Arial" pitchFamily="34" charset="0"/>
                <a:ea typeface="Arial" pitchFamily="34" charset="-122"/>
                <a:cs typeface="Arial" pitchFamily="34" charset="-120"/>
              </a:rPr>
              <a:t>Only candles that closed before an order was placed, so no future data leaks in</a:t>
            </a:r>
            <a:endParaRPr lang="en-US" sz="1200" dirty="0"/>
          </a:p>
        </p:txBody>
      </p:sp>
      <p:sp>
        <p:nvSpPr>
          <p:cNvPr id="7" name="Shape 5"/>
          <p:cNvSpPr/>
          <p:nvPr/>
        </p:nvSpPr>
        <p:spPr>
          <a:xfrm>
            <a:off x="4405809" y="1873845"/>
            <a:ext cx="3380333" cy="2564011"/>
          </a:xfrm>
          <a:prstGeom prst="roundRect">
            <a:avLst>
              <a:gd name="adj" fmla="val 2848"/>
            </a:avLst>
          </a:prstGeom>
          <a:solidFill>
            <a:srgbClr val="F1F2EC"/>
          </a:solidFill>
          <a:ln w="6350">
            <a:solidFill>
              <a:srgbClr val="E1E3DD"/>
            </a:solidFill>
            <a:prstDash val="solid"/>
          </a:ln>
        </p:spPr>
      </p:sp>
      <p:sp>
        <p:nvSpPr>
          <p:cNvPr id="8" name="Text 6"/>
          <p:cNvSpPr/>
          <p:nvPr/>
        </p:nvSpPr>
        <p:spPr>
          <a:xfrm>
            <a:off x="4586784" y="2054820"/>
            <a:ext cx="310893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2. How the model predicts</a:t>
            </a:r>
            <a:endParaRPr lang="en-US" sz="1400" dirty="0"/>
          </a:p>
        </p:txBody>
      </p:sp>
      <p:sp>
        <p:nvSpPr>
          <p:cNvPr id="9" name="Text 7"/>
          <p:cNvSpPr/>
          <p:nvPr/>
        </p:nvSpPr>
        <p:spPr>
          <a:xfrm>
            <a:off x="4698290" y="2405311"/>
            <a:ext cx="2989809" cy="1876971"/>
          </a:xfrm>
          <a:prstGeom prst="rect">
            <a:avLst/>
          </a:prstGeom>
          <a:noFill/>
          <a:ln/>
        </p:spPr>
        <p:txBody>
          <a:bodyPr wrap="square" lIns="0" tIns="0" rIns="0" bIns="0" rtlCol="0" anchor="t">
            <a:normAutofit/>
          </a:bodyPr>
          <a:lstStyle/>
          <a:p>
            <a:pPr algn="l" marL="142494" indent="-142494">
              <a:lnSpc>
                <a:spcPts val="1620"/>
              </a:lnSpc>
              <a:buSzPct val="100000"/>
              <a:buChar char="•"/>
            </a:pPr>
            <a:r>
              <a:rPr lang="en-US" sz="1200" dirty="0">
                <a:solidFill>
                  <a:srgbClr val="4A5563"/>
                </a:solidFill>
                <a:latin typeface="Arial" pitchFamily="34" charset="0"/>
                <a:ea typeface="Arial" pitchFamily="34" charset="-122"/>
                <a:cs typeface="Arial" pitchFamily="34" charset="-120"/>
              </a:rPr>
              <a:t>Target: how far BTC moved in past windows of the same length, sampled every 5 minutes</a:t>
            </a:r>
            <a:endParaRPr lang="en-US" sz="1200" dirty="0"/>
          </a:p>
          <a:p>
            <a:pPr algn="l" marL="142494" indent="-142494">
              <a:lnSpc>
                <a:spcPts val="1620"/>
              </a:lnSpc>
              <a:buSzPct val="100000"/>
              <a:buChar char="•"/>
            </a:pPr>
            <a:r>
              <a:rPr lang="en-US" sz="1200" dirty="0">
                <a:solidFill>
                  <a:srgbClr val="4A5563"/>
                </a:solidFill>
                <a:latin typeface="Arial" pitchFamily="34" charset="0"/>
                <a:ea typeface="Arial" pitchFamily="34" charset="-122"/>
                <a:cs typeface="Arial" pitchFamily="34" charset="-120"/>
              </a:rPr>
              <a:t>Inputs: recent volatility (1 h, 4 h, 1 day, 1 week), time of day in New York, and a US release inside the window</a:t>
            </a:r>
            <a:endParaRPr lang="en-US" sz="1200" dirty="0"/>
          </a:p>
          <a:p>
            <a:pPr algn="l" marL="142494" indent="-142494">
              <a:lnSpc>
                <a:spcPts val="1620"/>
              </a:lnSpc>
              <a:buSzPct val="100000"/>
              <a:buChar char="•"/>
            </a:pPr>
            <a:r>
              <a:rPr lang="en-US" sz="1200" dirty="0">
                <a:solidFill>
                  <a:srgbClr val="4A5563"/>
                </a:solidFill>
                <a:latin typeface="Arial" pitchFamily="34" charset="0"/>
                <a:ea typeface="Arial" pitchFamily="34" charset="-122"/>
                <a:cs typeface="Arial" pitchFamily="34" charset="-120"/>
              </a:rPr>
              <a:t>One Poisson regression per product length gives the expected size of the move</a:t>
            </a:r>
            <a:endParaRPr lang="en-US" sz="1200" dirty="0"/>
          </a:p>
        </p:txBody>
      </p:sp>
      <p:sp>
        <p:nvSpPr>
          <p:cNvPr id="10" name="Shape 8"/>
          <p:cNvSpPr/>
          <p:nvPr/>
        </p:nvSpPr>
        <p:spPr>
          <a:xfrm>
            <a:off x="7995692" y="1873845"/>
            <a:ext cx="3380333" cy="2564011"/>
          </a:xfrm>
          <a:prstGeom prst="roundRect">
            <a:avLst>
              <a:gd name="adj" fmla="val 2848"/>
            </a:avLst>
          </a:prstGeom>
          <a:solidFill>
            <a:srgbClr val="F1F2EC"/>
          </a:solidFill>
          <a:ln w="6350">
            <a:solidFill>
              <a:srgbClr val="E1E3DD"/>
            </a:solidFill>
            <a:prstDash val="solid"/>
          </a:ln>
        </p:spPr>
      </p:sp>
      <p:sp>
        <p:nvSpPr>
          <p:cNvPr id="11" name="Text 9"/>
          <p:cNvSpPr/>
          <p:nvPr/>
        </p:nvSpPr>
        <p:spPr>
          <a:xfrm>
            <a:off x="8176667" y="2054820"/>
            <a:ext cx="310893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3. How we checked it</a:t>
            </a:r>
            <a:endParaRPr lang="en-US" sz="1400" dirty="0"/>
          </a:p>
        </p:txBody>
      </p:sp>
      <p:sp>
        <p:nvSpPr>
          <p:cNvPr id="12" name="Text 10"/>
          <p:cNvSpPr/>
          <p:nvPr/>
        </p:nvSpPr>
        <p:spPr>
          <a:xfrm>
            <a:off x="8288173" y="2405311"/>
            <a:ext cx="2989809" cy="1671241"/>
          </a:xfrm>
          <a:prstGeom prst="rect">
            <a:avLst/>
          </a:prstGeom>
          <a:noFill/>
          <a:ln/>
        </p:spPr>
        <p:txBody>
          <a:bodyPr wrap="square" lIns="0" tIns="0" rIns="0" bIns="0" rtlCol="0" anchor="t">
            <a:normAutofit/>
          </a:bodyPr>
          <a:lstStyle/>
          <a:p>
            <a:pPr algn="l" marL="142494" indent="-142494">
              <a:lnSpc>
                <a:spcPts val="1620"/>
              </a:lnSpc>
              <a:buSzPct val="100000"/>
              <a:buChar char="•"/>
            </a:pPr>
            <a:r>
              <a:rPr lang="en-US" sz="1200" dirty="0">
                <a:solidFill>
                  <a:srgbClr val="4A5563"/>
                </a:solidFill>
                <a:latin typeface="Arial" pitchFamily="34" charset="0"/>
                <a:ea typeface="Arial" pitchFamily="34" charset="-122"/>
                <a:cs typeface="Arial" pitchFamily="34" charset="-120"/>
              </a:rPr>
              <a:t>Walk-forward: each month forecast by a model fitted only on earlier months</a:t>
            </a:r>
            <a:endParaRPr lang="en-US" sz="1200" dirty="0"/>
          </a:p>
          <a:p>
            <a:pPr algn="l" marL="142494" indent="-142494">
              <a:lnSpc>
                <a:spcPts val="1620"/>
              </a:lnSpc>
              <a:buSzPct val="100000"/>
              <a:buChar char="•"/>
            </a:pPr>
            <a:r>
              <a:rPr lang="en-US" sz="1200" dirty="0">
                <a:solidFill>
                  <a:srgbClr val="4A5563"/>
                </a:solidFill>
                <a:latin typeface="Arial" pitchFamily="34" charset="0"/>
                <a:ea typeface="Arial" pitchFamily="34" charset="-122"/>
                <a:cs typeface="Arial" pitchFamily="34" charset="-120"/>
              </a:rPr>
              <a:t>Payouts ÷ fair value = 0.98 over Feb–Jul, where 1.0 means on target (0.85 to 1.41 by month)</a:t>
            </a:r>
            <a:endParaRPr lang="en-US" sz="1200" dirty="0"/>
          </a:p>
          <a:p>
            <a:pPr algn="l" marL="142494" indent="-142494">
              <a:lnSpc>
                <a:spcPts val="1620"/>
              </a:lnSpc>
              <a:buSzPct val="100000"/>
              <a:buChar char="•"/>
            </a:pPr>
            <a:r>
              <a:rPr lang="en-US" sz="1200" dirty="0">
                <a:solidFill>
                  <a:srgbClr val="4A5563"/>
                </a:solidFill>
                <a:latin typeface="Arial" pitchFamily="34" charset="0"/>
                <a:ea typeface="Arial" pitchFamily="34" charset="-122"/>
                <a:cs typeface="Arial" pitchFamily="34" charset="-120"/>
              </a:rPr>
              <a:t>Tested and dropped: order size, direction, volatility regimes, US holidays, news and sentiment</a:t>
            </a:r>
            <a:endParaRPr lang="en-US" sz="1200" dirty="0"/>
          </a:p>
        </p:txBody>
      </p:sp>
      <p:sp>
        <p:nvSpPr>
          <p:cNvPr id="13" name="Text 11"/>
          <p:cNvSpPr/>
          <p:nvPr/>
        </p:nvSpPr>
        <p:spPr>
          <a:xfrm>
            <a:off x="812800" y="6238280"/>
            <a:ext cx="31680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Arial" pitchFamily="34" charset="0"/>
                <a:ea typeface="Arial" pitchFamily="34" charset="-122"/>
                <a:cs typeface="Arial" pitchFamily="34" charset="-120"/>
              </a:rPr>
              <a:t>Jasper Vault · Perpetual Protect pricing</a:t>
            </a:r>
            <a:endParaRPr lang="en-US" sz="1200" dirty="0"/>
          </a:p>
        </p:txBody>
      </p:sp>
      <p:sp>
        <p:nvSpPr>
          <p:cNvPr id="14" name="Text 12"/>
          <p:cNvSpPr/>
          <p:nvPr/>
        </p:nvSpPr>
        <p:spPr>
          <a:xfrm>
            <a:off x="11243618" y="6238280"/>
            <a:ext cx="13558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266AA"/>
                </a:solidFill>
                <a:latin typeface="Arial" pitchFamily="34" charset="0"/>
                <a:ea typeface="Arial" pitchFamily="34" charset="-122"/>
                <a:cs typeface="Arial" pitchFamily="34" charset="-120"/>
              </a:rPr>
              <a:t>04 · HOW WE CHOSE</a:t>
            </a:r>
            <a:endParaRPr lang="en-US" sz="1200" dirty="0"/>
          </a:p>
        </p:txBody>
      </p:sp>
      <p:sp>
        <p:nvSpPr>
          <p:cNvPr id="3" name="Text 1"/>
          <p:cNvSpPr/>
          <p:nvPr>
            <p:ph type="title"/>
          </p:nvPr>
        </p:nvSpPr>
        <p:spPr>
          <a:xfrm>
            <a:off x="812800" y="1127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E2A36"/>
                </a:solidFill>
                <a:latin typeface="Arial" pitchFamily="34" charset="0"/>
                <a:ea typeface="Arial" pitchFamily="34" charset="-122"/>
                <a:cs typeface="Arial" pitchFamily="34" charset="-120"/>
              </a:rPr>
              <a:t>Five ideas tested, one simple model chosen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83370"/>
          <a:ext cx="10553700" cy="3474393"/>
        </p:xfrm>
        <a:graphic>
          <a:graphicData uri="http://schemas.openxmlformats.org/drawingml/2006/table">
            <a:tbl>
              <a:tblPr/>
              <a:tblGrid>
                <a:gridCol w="3588258"/>
                <a:gridCol w="1160907"/>
                <a:gridCol w="3693795"/>
                <a:gridCol w="2110740"/>
              </a:tblGrid>
              <a:tr h="413990">
                <a:tc>
                  <a:txBody>
                    <a:bodyPr/>
                    <a:lstStyle/>
                    <a:p>
                      <a:pPr indent="0" marL="0">
                        <a:lnSpc>
                          <a:spcPts val="1680"/>
                        </a:lnSpc>
                        <a:buNone/>
                      </a:pPr>
                      <a:r>
                        <a:rPr lang="en-US" sz="1200" b="1" dirty="0">
                          <a:solidFill>
                            <a:srgbClr val="1E2A36"/>
                          </a:solidFill>
                          <a:latin typeface="Arial" pitchFamily="34" charset="0"/>
                          <a:ea typeface="Arial" pitchFamily="34" charset="-122"/>
                          <a:cs typeface="Arial" pitchFamily="34" charset="-120"/>
                        </a:rPr>
                        <a:t>Idea</a:t>
                      </a:r>
                      <a:endParaRPr lang="en-US" sz="12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BABC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ABCB7"/>
                      </a:solidFill>
                      <a:prstDash val="solid"/>
                      <a:round/>
                      <a:headEnd type="none" w="med" len="med"/>
                      <a:tailEnd type="none" w="med" len="med"/>
                    </a:lnB>
                    <a:solidFill>
                      <a:srgbClr val="E9EBE5"/>
                    </a:solidFill>
                  </a:tcPr>
                </a:tc>
                <a:tc>
                  <a:txBody>
                    <a:bodyPr/>
                    <a:lstStyle/>
                    <a:p>
                      <a:pPr indent="0" marL="0">
                        <a:lnSpc>
                          <a:spcPts val="1680"/>
                        </a:lnSpc>
                        <a:buNone/>
                      </a:pPr>
                      <a:r>
                        <a:rPr lang="en-US" sz="1200" b="1" dirty="0">
                          <a:solidFill>
                            <a:srgbClr val="1E2A36"/>
                          </a:solidFill>
                          <a:latin typeface="Arial" pitchFamily="34" charset="0"/>
                          <a:ea typeface="Arial" pitchFamily="34" charset="-122"/>
                          <a:cs typeface="Arial" pitchFamily="34" charset="-120"/>
                        </a:rPr>
                        <a:t>Built by</a:t>
                      </a:r>
                      <a:endParaRPr lang="en-US" sz="1200" dirty="0">
                        <a:latin typeface="Arial" charset="0"/>
                        <a:ea typeface="Arial" charset="0"/>
                        <a:cs typeface="Arial" charset="0"/>
                      </a:endParaRPr>
                    </a:p>
                  </a:txBody>
                  <a:tcPr marL="101600" marR="101600" marT="101600" marB="101600" anchor="t">
                    <a:lnL w="12700" cap="flat" cmpd="sng" algn="ctr">
                      <a:solidFill>
                        <a:srgbClr val="BABCB7"/>
                      </a:solidFill>
                      <a:prstDash val="solid"/>
                      <a:round/>
                      <a:headEnd type="none" w="med" len="med"/>
                      <a:tailEnd type="none" w="med" len="med"/>
                    </a:lnL>
                    <a:lnR w="12700" cap="flat" cmpd="sng" algn="ctr">
                      <a:solidFill>
                        <a:srgbClr val="BABC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ABCB7"/>
                      </a:solidFill>
                      <a:prstDash val="solid"/>
                      <a:round/>
                      <a:headEnd type="none" w="med" len="med"/>
                      <a:tailEnd type="none" w="med" len="med"/>
                    </a:lnB>
                    <a:solidFill>
                      <a:srgbClr val="E9EBE5"/>
                    </a:solidFill>
                  </a:tcPr>
                </a:tc>
                <a:tc>
                  <a:txBody>
                    <a:bodyPr/>
                    <a:lstStyle/>
                    <a:p>
                      <a:pPr indent="0" marL="0">
                        <a:lnSpc>
                          <a:spcPts val="1680"/>
                        </a:lnSpc>
                        <a:buNone/>
                      </a:pPr>
                      <a:r>
                        <a:rPr lang="en-US" sz="1200" b="1" dirty="0">
                          <a:solidFill>
                            <a:srgbClr val="1E2A36"/>
                          </a:solidFill>
                          <a:latin typeface="Arial" pitchFamily="34" charset="0"/>
                          <a:ea typeface="Arial" pitchFamily="34" charset="-122"/>
                          <a:cs typeface="Arial" pitchFamily="34" charset="-120"/>
                        </a:rPr>
                        <a:t>What we found</a:t>
                      </a:r>
                      <a:endParaRPr lang="en-US" sz="1200" dirty="0">
                        <a:latin typeface="Arial" charset="0"/>
                        <a:ea typeface="Arial" charset="0"/>
                        <a:cs typeface="Arial" charset="0"/>
                      </a:endParaRPr>
                    </a:p>
                  </a:txBody>
                  <a:tcPr marL="101600" marR="101600" marT="101600" marB="101600" anchor="t">
                    <a:lnL w="12700" cap="flat" cmpd="sng" algn="ctr">
                      <a:solidFill>
                        <a:srgbClr val="BABCB7"/>
                      </a:solidFill>
                      <a:prstDash val="solid"/>
                      <a:round/>
                      <a:headEnd type="none" w="med" len="med"/>
                      <a:tailEnd type="none" w="med" len="med"/>
                    </a:lnL>
                    <a:lnR w="12700" cap="flat" cmpd="sng" algn="ctr">
                      <a:solidFill>
                        <a:srgbClr val="BABC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ABCB7"/>
                      </a:solidFill>
                      <a:prstDash val="solid"/>
                      <a:round/>
                      <a:headEnd type="none" w="med" len="med"/>
                      <a:tailEnd type="none" w="med" len="med"/>
                    </a:lnB>
                    <a:solidFill>
                      <a:srgbClr val="E9EBE5"/>
                    </a:solidFill>
                  </a:tcPr>
                </a:tc>
                <a:tc>
                  <a:txBody>
                    <a:bodyPr/>
                    <a:lstStyle/>
                    <a:p>
                      <a:pPr indent="0" marL="0">
                        <a:lnSpc>
                          <a:spcPts val="1680"/>
                        </a:lnSpc>
                        <a:buNone/>
                      </a:pPr>
                      <a:r>
                        <a:rPr lang="en-US" sz="1200" b="1" dirty="0">
                          <a:solidFill>
                            <a:srgbClr val="1E2A36"/>
                          </a:solidFill>
                          <a:latin typeface="Arial" pitchFamily="34" charset="0"/>
                          <a:ea typeface="Arial" pitchFamily="34" charset="-122"/>
                          <a:cs typeface="Arial" pitchFamily="34" charset="-120"/>
                        </a:rPr>
                        <a:t>Decision</a:t>
                      </a:r>
                      <a:endParaRPr lang="en-US" sz="1200" dirty="0">
                        <a:latin typeface="Arial" charset="0"/>
                        <a:ea typeface="Arial" charset="0"/>
                        <a:cs typeface="Arial" charset="0"/>
                      </a:endParaRPr>
                    </a:p>
                  </a:txBody>
                  <a:tcPr marL="101600" marR="101600" marT="101600" marB="101600" anchor="t">
                    <a:lnL w="12700" cap="flat" cmpd="sng" algn="ctr">
                      <a:solidFill>
                        <a:srgbClr val="BABCB7"/>
                      </a:solidFill>
                      <a:prstDash val="solid"/>
                      <a:round/>
                      <a:headEnd type="none" w="med" len="med"/>
                      <a:tailEnd type="none" w="med" len="med"/>
                    </a:lnL>
                    <a:lnR w="12700" cap="flat" cmpd="sng" algn="ctr">
                      <a:solidFill>
                        <a:srgbClr val="BABC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ABCB7"/>
                      </a:solidFill>
                      <a:prstDash val="solid"/>
                      <a:round/>
                      <a:headEnd type="none" w="med" len="med"/>
                      <a:tailEnd type="none" w="med" len="med"/>
                    </a:lnB>
                    <a:solidFill>
                      <a:srgbClr val="E9EBE5"/>
                    </a:solidFill>
                  </a:tcPr>
                </a:tc>
              </a:tr>
              <a:tr h="612080">
                <a:tc>
                  <a:txBody>
                    <a:bodyPr/>
                    <a:lstStyle/>
                    <a:p>
                      <a:pPr indent="0" marL="0">
                        <a:lnSpc>
                          <a:spcPts val="1680"/>
                        </a:lnSpc>
                        <a:buNone/>
                      </a:pPr>
                      <a:r>
                        <a:rPr lang="en-US" sz="1200" dirty="0">
                          <a:solidFill>
                            <a:srgbClr val="1E2A36"/>
                          </a:solidFill>
                          <a:latin typeface="Arial" pitchFamily="34" charset="0"/>
                          <a:ea typeface="Arial" pitchFamily="34" charset="-122"/>
                          <a:cs typeface="Arial" pitchFamily="34" charset="-120"/>
                        </a:rPr>
                        <a:t>Fair value × 1.25: forecast the move, add a margin</a:t>
                      </a:r>
                      <a:endParaRPr lang="en-US" sz="12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BABCB7"/>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1680"/>
                        </a:lnSpc>
                        <a:buNone/>
                      </a:pPr>
                      <a:r>
                        <a:rPr lang="en-US" sz="1200" dirty="0">
                          <a:solidFill>
                            <a:srgbClr val="1E2A36"/>
                          </a:solidFill>
                          <a:latin typeface="Arial" pitchFamily="34" charset="0"/>
                          <a:ea typeface="Arial" pitchFamily="34" charset="-122"/>
                          <a:cs typeface="Arial" pitchFamily="34" charset="-120"/>
                        </a:rPr>
                        <a:t>Maksim</a:t>
                      </a:r>
                      <a:endParaRPr lang="en-US" sz="1200" dirty="0">
                        <a:latin typeface="Arial" charset="0"/>
                        <a:ea typeface="Arial" charset="0"/>
                        <a:cs typeface="Arial" charset="0"/>
                      </a:endParaRPr>
                    </a:p>
                  </a:txBody>
                  <a:tcPr marL="101600" marR="101600" marT="101600" marB="101600"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BABCB7"/>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1680"/>
                        </a:lnSpc>
                        <a:buNone/>
                      </a:pPr>
                      <a:r>
                        <a:rPr lang="en-US" sz="1200" dirty="0">
                          <a:solidFill>
                            <a:srgbClr val="1E2A36"/>
                          </a:solidFill>
                          <a:latin typeface="Arial" pitchFamily="34" charset="0"/>
                          <a:ea typeface="Arial" pitchFamily="34" charset="-122"/>
                          <a:cs typeface="Arial" pitchFamily="34" charset="-120"/>
                        </a:rPr>
                        <a:t>Beat JV in all six training months and ranks risk well</a:t>
                      </a:r>
                      <a:endParaRPr lang="en-US" sz="1200" dirty="0">
                        <a:latin typeface="Arial" charset="0"/>
                        <a:ea typeface="Arial" charset="0"/>
                        <a:cs typeface="Arial" charset="0"/>
                      </a:endParaRPr>
                    </a:p>
                  </a:txBody>
                  <a:tcPr marL="101600" marR="101600" marT="101600" marB="101600"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BABCB7"/>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indent="0" marL="0">
                        <a:lnSpc>
                          <a:spcPts val="1680"/>
                        </a:lnSpc>
                        <a:buNone/>
                      </a:pPr>
                      <a:r>
                        <a:rPr lang="en-US" sz="1200" dirty="0">
                          <a:solidFill>
                            <a:srgbClr val="1E2A36"/>
                          </a:solidFill>
                          <a:latin typeface="Arial" pitchFamily="34" charset="0"/>
                          <a:ea typeface="Arial" pitchFamily="34" charset="-122"/>
                          <a:cs typeface="Arial" pitchFamily="34" charset="-120"/>
                        </a:rPr>
                        <a:t>Chosen as the core</a:t>
                      </a:r>
                      <a:endParaRPr lang="en-US" sz="1200" dirty="0">
                        <a:latin typeface="Arial" charset="0"/>
                        <a:ea typeface="Arial" charset="0"/>
                        <a:cs typeface="Arial" charset="0"/>
                      </a:endParaRPr>
                    </a:p>
                  </a:txBody>
                  <a:tcPr marL="101600" marR="101600" marT="101600" marB="101600"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BABCB7"/>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r>
              <a:tr h="612080">
                <a:tc>
                  <a:txBody>
                    <a:bodyPr/>
                    <a:lstStyle/>
                    <a:p>
                      <a:pPr indent="0" marL="0">
                        <a:lnSpc>
                          <a:spcPts val="1680"/>
                        </a:lnSpc>
                        <a:buNone/>
                      </a:pPr>
                      <a:r>
                        <a:rPr lang="en-US" sz="1200" dirty="0">
                          <a:solidFill>
                            <a:srgbClr val="1E2A36"/>
                          </a:solidFill>
                          <a:latin typeface="Arial" pitchFamily="34" charset="0"/>
                          <a:ea typeface="Arial" pitchFamily="34" charset="-122"/>
                          <a:cs typeface="Arial" pitchFamily="34" charset="-120"/>
                        </a:rPr>
                        <a:t>Order-flow loading: charge more against JV’s crowded side</a:t>
                      </a:r>
                      <a:endParaRPr lang="en-US" sz="12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E2A36"/>
                          </a:solidFill>
                          <a:latin typeface="Arial" pitchFamily="34" charset="0"/>
                          <a:ea typeface="Arial" pitchFamily="34" charset="-122"/>
                          <a:cs typeface="Arial" pitchFamily="34" charset="-120"/>
                        </a:rPr>
                        <a:t>Chris</a:t>
                      </a:r>
                      <a:endParaRPr lang="en-US" sz="12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E2A36"/>
                          </a:solidFill>
                          <a:latin typeface="Arial" pitchFamily="34" charset="0"/>
                          <a:ea typeface="Arial" pitchFamily="34" charset="-122"/>
                          <a:cs typeface="Arial" pitchFamily="34" charset="-120"/>
                        </a:rPr>
                        <a:t>Those orders pay out more, but a flat raise of the same size did as well</a:t>
                      </a:r>
                      <a:endParaRPr lang="en-US" sz="12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E2A36"/>
                          </a:solidFill>
                          <a:latin typeface="Arial" pitchFamily="34" charset="0"/>
                          <a:ea typeface="Arial" pitchFamily="34" charset="-122"/>
                          <a:cs typeface="Arial" pitchFamily="34" charset="-120"/>
                        </a:rPr>
                        <a:t>Optional add-on and risk signal</a:t>
                      </a:r>
                      <a:endParaRPr lang="en-US" sz="12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612080">
                <a:tc>
                  <a:txBody>
                    <a:bodyPr/>
                    <a:lstStyle/>
                    <a:p>
                      <a:pPr indent="0" marL="0">
                        <a:lnSpc>
                          <a:spcPts val="1680"/>
                        </a:lnSpc>
                        <a:buNone/>
                      </a:pPr>
                      <a:r>
                        <a:rPr lang="en-US" sz="1200" dirty="0">
                          <a:solidFill>
                            <a:srgbClr val="1E2A36"/>
                          </a:solidFill>
                          <a:latin typeface="Arial" pitchFamily="34" charset="0"/>
                          <a:ea typeface="Arial" pitchFamily="34" charset="-122"/>
                          <a:cs typeface="Arial" pitchFamily="34" charset="-120"/>
                        </a:rPr>
                        <a:t>Hybrid: JV’s base price × a learned multiplier, plus an adjustment</a:t>
                      </a:r>
                      <a:endParaRPr lang="en-US" sz="12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E2A36"/>
                          </a:solidFill>
                          <a:latin typeface="Arial" pitchFamily="34" charset="0"/>
                          <a:ea typeface="Arial" pitchFamily="34" charset="-122"/>
                          <a:cs typeface="Arial" pitchFamily="34" charset="-120"/>
                        </a:rPr>
                        <a:t>Subham</a:t>
                      </a:r>
                      <a:endParaRPr lang="en-US" sz="12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E2A36"/>
                          </a:solidFill>
                          <a:latin typeface="Arial" pitchFamily="34" charset="0"/>
                          <a:ea typeface="Arial" pitchFamily="34" charset="-122"/>
                          <a:cs typeface="Arial" pitchFamily="34" charset="-120"/>
                        </a:rPr>
                        <a:t>A simple “base × one constant” benchmark earned more</a:t>
                      </a:r>
                      <a:endParaRPr lang="en-US" sz="12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E2A36"/>
                          </a:solidFill>
                          <a:latin typeface="Arial" pitchFamily="34" charset="0"/>
                          <a:ea typeface="Arial" pitchFamily="34" charset="-122"/>
                          <a:cs typeface="Arial" pitchFamily="34" charset="-120"/>
                        </a:rPr>
                        <a:t>Kept as a cross-check</a:t>
                      </a:r>
                      <a:endParaRPr lang="en-US" sz="12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612080">
                <a:tc>
                  <a:txBody>
                    <a:bodyPr/>
                    <a:lstStyle/>
                    <a:p>
                      <a:pPr indent="0" marL="0">
                        <a:lnSpc>
                          <a:spcPts val="1680"/>
                        </a:lnSpc>
                        <a:buNone/>
                      </a:pPr>
                      <a:r>
                        <a:rPr lang="en-US" sz="1200" dirty="0">
                          <a:solidFill>
                            <a:srgbClr val="1E2A36"/>
                          </a:solidFill>
                          <a:latin typeface="Arial" pitchFamily="34" charset="0"/>
                          <a:ea typeface="Arial" pitchFamily="34" charset="-122"/>
                          <a:cs typeface="Arial" pitchFamily="34" charset="-120"/>
                        </a:rPr>
                        <a:t>Our estimate of JV’s price × a risk shape</a:t>
                      </a:r>
                      <a:endParaRPr lang="en-US" sz="12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E2A36"/>
                          </a:solidFill>
                          <a:latin typeface="Arial" pitchFamily="34" charset="0"/>
                          <a:ea typeface="Arial" pitchFamily="34" charset="-122"/>
                          <a:cs typeface="Arial" pitchFamily="34" charset="-120"/>
                        </a:rPr>
                        <a:t>Aman</a:t>
                      </a:r>
                      <a:endParaRPr lang="en-US" sz="12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E2A36"/>
                          </a:solidFill>
                          <a:latin typeface="Arial" pitchFamily="34" charset="0"/>
                          <a:ea typeface="Arial" pitchFamily="34" charset="-122"/>
                          <a:cs typeface="Arial" pitchFamily="34" charset="-120"/>
                        </a:rPr>
                        <a:t>Kept JV’s price level, but earned less than JV in July</a:t>
                      </a:r>
                      <a:endParaRPr lang="en-US" sz="12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E2A36"/>
                          </a:solidFill>
                          <a:latin typeface="Arial" pitchFamily="34" charset="0"/>
                          <a:ea typeface="Arial" pitchFamily="34" charset="-122"/>
                          <a:cs typeface="Arial" pitchFamily="34" charset="-120"/>
                        </a:rPr>
                        <a:t>Not adopted</a:t>
                      </a:r>
                      <a:endParaRPr lang="en-US" sz="12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612080">
                <a:tc>
                  <a:txBody>
                    <a:bodyPr/>
                    <a:lstStyle/>
                    <a:p>
                      <a:pPr indent="0" marL="0">
                        <a:lnSpc>
                          <a:spcPts val="1680"/>
                        </a:lnSpc>
                        <a:buNone/>
                      </a:pPr>
                      <a:r>
                        <a:rPr lang="en-US" sz="1200" dirty="0">
                          <a:solidFill>
                            <a:srgbClr val="1E2A36"/>
                          </a:solidFill>
                          <a:latin typeface="Arial" pitchFamily="34" charset="0"/>
                          <a:ea typeface="Arial" pitchFamily="34" charset="-122"/>
                          <a:cs typeface="Arial" pitchFamily="34" charset="-120"/>
                        </a:rPr>
                        <a:t>News, social media, LLM signals and extra market data</a:t>
                      </a:r>
                      <a:endParaRPr lang="en-US" sz="12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E2A36"/>
                          </a:solidFill>
                          <a:latin typeface="Arial" pitchFamily="34" charset="0"/>
                          <a:ea typeface="Arial" pitchFamily="34" charset="-122"/>
                          <a:cs typeface="Arial" pitchFamily="34" charset="-120"/>
                        </a:rPr>
                        <a:t>Jay, Aman</a:t>
                      </a:r>
                      <a:endParaRPr lang="en-US" sz="12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E2A36"/>
                          </a:solidFill>
                          <a:latin typeface="Arial" pitchFamily="34" charset="0"/>
                          <a:ea typeface="Arial" pitchFamily="34" charset="-122"/>
                          <a:cs typeface="Arial" pitchFamily="34" charset="-120"/>
                        </a:rPr>
                        <a:t>Better forecasts at best, never better prices</a:t>
                      </a:r>
                      <a:endParaRPr lang="en-US" sz="12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1E2A36"/>
                          </a:solidFill>
                          <a:latin typeface="Arial" pitchFamily="34" charset="0"/>
                          <a:ea typeface="Arial" pitchFamily="34" charset="-122"/>
                          <a:cs typeface="Arial" pitchFamily="34" charset="-120"/>
                        </a:rPr>
                        <a:t>Not adopted</a:t>
                      </a:r>
                      <a:endParaRPr lang="en-US" sz="12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bl>
          </a:graphicData>
        </a:graphic>
      </p:graphicFrame>
      <p:sp>
        <p:nvSpPr>
          <p:cNvPr id="5" name="Text 2"/>
          <p:cNvSpPr/>
          <p:nvPr/>
        </p:nvSpPr>
        <p:spPr>
          <a:xfrm>
            <a:off x="812800" y="551016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All five were scored on the same orders. July was held out, and each adoption rule was written down before scoring.</a:t>
            </a:r>
            <a:endParaRPr lang="en-US" sz="1200" dirty="0"/>
          </a:p>
        </p:txBody>
      </p:sp>
      <p:sp>
        <p:nvSpPr>
          <p:cNvPr id="6" name="Text 3"/>
          <p:cNvSpPr/>
          <p:nvPr/>
        </p:nvSpPr>
        <p:spPr>
          <a:xfrm>
            <a:off x="812800" y="6238280"/>
            <a:ext cx="31680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Arial" pitchFamily="34" charset="0"/>
                <a:ea typeface="Arial" pitchFamily="34" charset="-122"/>
                <a:cs typeface="Arial" pitchFamily="34" charset="-120"/>
              </a:rPr>
              <a:t>Jasper Vault · Perpetual Protect pricing</a:t>
            </a:r>
            <a:endParaRPr lang="en-US" sz="1200" dirty="0"/>
          </a:p>
        </p:txBody>
      </p:sp>
      <p:sp>
        <p:nvSpPr>
          <p:cNvPr id="7" name="Text 4"/>
          <p:cNvSpPr/>
          <p:nvPr/>
        </p:nvSpPr>
        <p:spPr>
          <a:xfrm>
            <a:off x="11243618" y="6238280"/>
            <a:ext cx="13558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266AA"/>
                </a:solidFill>
                <a:latin typeface="Arial" pitchFamily="34" charset="0"/>
                <a:ea typeface="Arial" pitchFamily="34" charset="-122"/>
                <a:cs typeface="Arial" pitchFamily="34" charset="-120"/>
              </a:rPr>
              <a:t>05 · RESULTS</a:t>
            </a:r>
            <a:endParaRPr lang="en-US" sz="1200" dirty="0"/>
          </a:p>
        </p:txBody>
      </p:sp>
      <p:sp>
        <p:nvSpPr>
          <p:cNvPr id="3" name="Text 1"/>
          <p:cNvSpPr/>
          <p:nvPr>
            <p:ph type="title"/>
          </p:nvPr>
        </p:nvSpPr>
        <p:spPr>
          <a:xfrm>
            <a:off x="812800" y="1127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E2A36"/>
                </a:solidFill>
                <a:latin typeface="Arial" pitchFamily="34" charset="0"/>
                <a:ea typeface="Arial" pitchFamily="34" charset="-122"/>
                <a:cs typeface="Arial" pitchFamily="34" charset="-120"/>
              </a:rPr>
              <a:t>The model beats JV’s price in every training month</a:t>
            </a:r>
            <a:endParaRPr lang="en-US" sz="3000" dirty="0"/>
          </a:p>
        </p:txBody>
      </p:sp>
      <p:sp>
        <p:nvSpPr>
          <p:cNvPr id="4" name="Shape 2"/>
          <p:cNvSpPr/>
          <p:nvPr/>
        </p:nvSpPr>
        <p:spPr>
          <a:xfrm>
            <a:off x="812800" y="1913830"/>
            <a:ext cx="127000" cy="127000"/>
          </a:xfrm>
          <a:prstGeom prst="roundRect">
            <a:avLst>
              <a:gd name="adj" fmla="val 20000"/>
            </a:avLst>
          </a:prstGeom>
          <a:solidFill>
            <a:srgbClr val="C47A35"/>
          </a:solidFill>
          <a:ln/>
        </p:spPr>
      </p:sp>
      <p:sp>
        <p:nvSpPr>
          <p:cNvPr id="5" name="Text 3"/>
          <p:cNvSpPr/>
          <p:nvPr/>
        </p:nvSpPr>
        <p:spPr>
          <a:xfrm>
            <a:off x="1016000" y="1870670"/>
            <a:ext cx="13100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A36"/>
                </a:solidFill>
                <a:latin typeface="Arial" pitchFamily="34" charset="0"/>
                <a:ea typeface="Arial" pitchFamily="34" charset="-122"/>
                <a:cs typeface="Arial" pitchFamily="34" charset="-120"/>
              </a:rPr>
              <a:t>JV’s actual price</a:t>
            </a:r>
            <a:endParaRPr lang="en-US" sz="1200" dirty="0"/>
          </a:p>
        </p:txBody>
      </p:sp>
      <p:sp>
        <p:nvSpPr>
          <p:cNvPr id="6" name="Shape 4"/>
          <p:cNvSpPr/>
          <p:nvPr/>
        </p:nvSpPr>
        <p:spPr>
          <a:xfrm>
            <a:off x="2326035" y="1913830"/>
            <a:ext cx="127000" cy="127000"/>
          </a:xfrm>
          <a:prstGeom prst="roundRect">
            <a:avLst>
              <a:gd name="adj" fmla="val 20000"/>
            </a:avLst>
          </a:prstGeom>
          <a:solidFill>
            <a:srgbClr val="2266AA"/>
          </a:solidFill>
          <a:ln/>
        </p:spPr>
      </p:sp>
      <p:sp>
        <p:nvSpPr>
          <p:cNvPr id="7" name="Text 5"/>
          <p:cNvSpPr/>
          <p:nvPr/>
        </p:nvSpPr>
        <p:spPr>
          <a:xfrm>
            <a:off x="2529235" y="1870670"/>
            <a:ext cx="32019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A36"/>
                </a:solidFill>
                <a:latin typeface="Arial" pitchFamily="34" charset="0"/>
                <a:ea typeface="Arial" pitchFamily="34" charset="-122"/>
                <a:cs typeface="Arial" pitchFamily="34" charset="-120"/>
              </a:rPr>
              <a:t>Our model, fitted only on earlier months</a:t>
            </a:r>
            <a:endParaRPr lang="en-US" sz="1200" dirty="0"/>
          </a:p>
        </p:txBody>
      </p:sp>
      <p:pic>
        <p:nvPicPr>
          <p:cNvPr id="8" name="Image 0" descr="Grouped bar chart of monthly profit, JV’s price versus our model: Feb −453 vs −166, Mar 49 vs 129, Apr 2,645 vs 4,097, May 4,620 vs 9,800, Jun 6,257 vs 22,514, Jul 4,319 vs 26,506 USDC">    </p:cNvPr>
          <p:cNvPicPr>
            <a:picLocks noChangeAspect="1"/>
          </p:cNvPicPr>
          <p:nvPr/>
        </p:nvPicPr>
        <p:blipFill>
          <a:blip r:embed="rId1"/>
          <a:srcRect l="0" r="0" t="0" b="0"/>
          <a:stretch/>
        </p:blipFill>
        <p:spPr>
          <a:xfrm>
            <a:off x="812800" y="2185591"/>
            <a:ext cx="6096000" cy="2921000"/>
          </a:xfrm>
          <a:prstGeom prst="rect">
            <a:avLst/>
          </a:prstGeom>
        </p:spPr>
      </p:pic>
      <p:sp>
        <p:nvSpPr>
          <p:cNvPr id="9" name="Text 6"/>
          <p:cNvSpPr/>
          <p:nvPr/>
        </p:nvSpPr>
        <p:spPr>
          <a:xfrm>
            <a:off x="762000" y="2953941"/>
            <a:ext cx="431800" cy="20826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4A5563"/>
                </a:solidFill>
                <a:latin typeface="Arial" pitchFamily="34" charset="0"/>
                <a:ea typeface="Arial" pitchFamily="34" charset="-122"/>
                <a:cs typeface="Arial" pitchFamily="34" charset="-120"/>
              </a:rPr>
              <a:t>20K</a:t>
            </a:r>
            <a:endParaRPr lang="en-US" sz="1200" dirty="0"/>
          </a:p>
        </p:txBody>
      </p:sp>
      <p:sp>
        <p:nvSpPr>
          <p:cNvPr id="10" name="Text 7"/>
          <p:cNvSpPr/>
          <p:nvPr/>
        </p:nvSpPr>
        <p:spPr>
          <a:xfrm>
            <a:off x="762000" y="3798491"/>
            <a:ext cx="431800" cy="20826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4A5563"/>
                </a:solidFill>
                <a:latin typeface="Arial" pitchFamily="34" charset="0"/>
                <a:ea typeface="Arial" pitchFamily="34" charset="-122"/>
                <a:cs typeface="Arial" pitchFamily="34" charset="-120"/>
              </a:rPr>
              <a:t>10K</a:t>
            </a:r>
            <a:endParaRPr lang="en-US" sz="1200" dirty="0"/>
          </a:p>
        </p:txBody>
      </p:sp>
      <p:sp>
        <p:nvSpPr>
          <p:cNvPr id="11" name="Text 8"/>
          <p:cNvSpPr/>
          <p:nvPr/>
        </p:nvSpPr>
        <p:spPr>
          <a:xfrm>
            <a:off x="762000" y="4636691"/>
            <a:ext cx="431800" cy="20826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4A5563"/>
                </a:solidFill>
                <a:latin typeface="Arial" pitchFamily="34" charset="0"/>
                <a:ea typeface="Arial" pitchFamily="34" charset="-122"/>
                <a:cs typeface="Arial" pitchFamily="34" charset="-120"/>
              </a:rPr>
              <a:t>0</a:t>
            </a:r>
            <a:endParaRPr lang="en-US" sz="1200" dirty="0"/>
          </a:p>
        </p:txBody>
      </p:sp>
      <p:sp>
        <p:nvSpPr>
          <p:cNvPr id="12" name="Text 9"/>
          <p:cNvSpPr/>
          <p:nvPr/>
        </p:nvSpPr>
        <p:spPr>
          <a:xfrm>
            <a:off x="5295900" y="2617391"/>
            <a:ext cx="71120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1E2A36"/>
                </a:solidFill>
                <a:latin typeface="Arial" pitchFamily="34" charset="0"/>
                <a:ea typeface="Arial" pitchFamily="34" charset="-122"/>
                <a:cs typeface="Arial" pitchFamily="34" charset="-120"/>
              </a:rPr>
              <a:t>22,514</a:t>
            </a:r>
            <a:endParaRPr lang="en-US" sz="1200" dirty="0"/>
          </a:p>
        </p:txBody>
      </p:sp>
      <p:sp>
        <p:nvSpPr>
          <p:cNvPr id="13" name="Text 10"/>
          <p:cNvSpPr/>
          <p:nvPr/>
        </p:nvSpPr>
        <p:spPr>
          <a:xfrm>
            <a:off x="6223000" y="2287191"/>
            <a:ext cx="71120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1E2A36"/>
                </a:solidFill>
                <a:latin typeface="Arial" pitchFamily="34" charset="0"/>
                <a:ea typeface="Arial" pitchFamily="34" charset="-122"/>
                <a:cs typeface="Arial" pitchFamily="34" charset="-120"/>
              </a:rPr>
              <a:t>26,506</a:t>
            </a:r>
            <a:endParaRPr lang="en-US" sz="1200" dirty="0"/>
          </a:p>
        </p:txBody>
      </p:sp>
      <p:sp>
        <p:nvSpPr>
          <p:cNvPr id="14" name="Text 11"/>
          <p:cNvSpPr/>
          <p:nvPr/>
        </p:nvSpPr>
        <p:spPr>
          <a:xfrm>
            <a:off x="1231900" y="4839891"/>
            <a:ext cx="99060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Feb</a:t>
            </a:r>
            <a:endParaRPr lang="en-US" sz="1200" dirty="0"/>
          </a:p>
        </p:txBody>
      </p:sp>
      <p:sp>
        <p:nvSpPr>
          <p:cNvPr id="15" name="Text 12"/>
          <p:cNvSpPr/>
          <p:nvPr/>
        </p:nvSpPr>
        <p:spPr>
          <a:xfrm>
            <a:off x="2178050" y="4839891"/>
            <a:ext cx="99060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Mar</a:t>
            </a:r>
            <a:endParaRPr lang="en-US" sz="1200" dirty="0"/>
          </a:p>
        </p:txBody>
      </p:sp>
      <p:sp>
        <p:nvSpPr>
          <p:cNvPr id="16" name="Text 13"/>
          <p:cNvSpPr/>
          <p:nvPr/>
        </p:nvSpPr>
        <p:spPr>
          <a:xfrm>
            <a:off x="3117850" y="4839891"/>
            <a:ext cx="99060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Apr</a:t>
            </a:r>
            <a:endParaRPr lang="en-US" sz="1200" dirty="0"/>
          </a:p>
        </p:txBody>
      </p:sp>
      <p:sp>
        <p:nvSpPr>
          <p:cNvPr id="17" name="Text 14"/>
          <p:cNvSpPr/>
          <p:nvPr/>
        </p:nvSpPr>
        <p:spPr>
          <a:xfrm>
            <a:off x="4057650" y="4839891"/>
            <a:ext cx="99060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May</a:t>
            </a:r>
            <a:endParaRPr lang="en-US" sz="1200" dirty="0"/>
          </a:p>
        </p:txBody>
      </p:sp>
      <p:sp>
        <p:nvSpPr>
          <p:cNvPr id="18" name="Text 15"/>
          <p:cNvSpPr/>
          <p:nvPr/>
        </p:nvSpPr>
        <p:spPr>
          <a:xfrm>
            <a:off x="5003800" y="4839891"/>
            <a:ext cx="99060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Jun</a:t>
            </a:r>
            <a:endParaRPr lang="en-US" sz="1200" dirty="0"/>
          </a:p>
        </p:txBody>
      </p:sp>
      <p:sp>
        <p:nvSpPr>
          <p:cNvPr id="19" name="Text 16"/>
          <p:cNvSpPr/>
          <p:nvPr/>
        </p:nvSpPr>
        <p:spPr>
          <a:xfrm>
            <a:off x="5943600" y="4839891"/>
            <a:ext cx="99060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Jul</a:t>
            </a:r>
            <a:endParaRPr lang="en-US" sz="1200" dirty="0"/>
          </a:p>
        </p:txBody>
      </p:sp>
      <p:sp>
        <p:nvSpPr>
          <p:cNvPr id="20" name="Text 17"/>
          <p:cNvSpPr/>
          <p:nvPr/>
        </p:nvSpPr>
        <p:spPr>
          <a:xfrm>
            <a:off x="812800" y="5208191"/>
            <a:ext cx="627888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3"/>
                </a:solidFill>
                <a:latin typeface="Arial" pitchFamily="34" charset="0"/>
                <a:ea typeface="Arial" pitchFamily="34" charset="-122"/>
                <a:cs typeface="Arial" pitchFamily="34" charset="-120"/>
              </a:rPr>
              <a:t>Profit per month in USDC, buyers assumed to behave as before. Each month is priced by a model fitted only on earlier months.</a:t>
            </a:r>
            <a:endParaRPr lang="en-US" sz="1200" dirty="0"/>
          </a:p>
        </p:txBody>
      </p:sp>
      <p:sp>
        <p:nvSpPr>
          <p:cNvPr id="21" name="Text 18"/>
          <p:cNvSpPr/>
          <p:nvPr/>
        </p:nvSpPr>
        <p:spPr>
          <a:xfrm>
            <a:off x="7315200" y="1870670"/>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July, if buyers behave as before</a:t>
            </a:r>
            <a:endParaRPr lang="en-US" sz="1200" dirty="0"/>
          </a:p>
        </p:txBody>
      </p:sp>
      <p:sp>
        <p:nvSpPr>
          <p:cNvPr id="22" name="Text 19"/>
          <p:cNvSpPr/>
          <p:nvPr/>
        </p:nvSpPr>
        <p:spPr>
          <a:xfrm>
            <a:off x="7315200" y="2109391"/>
            <a:ext cx="418592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E2A36"/>
                </a:solidFill>
                <a:latin typeface="Arial" pitchFamily="34" charset="0"/>
                <a:ea typeface="Arial" pitchFamily="34" charset="-122"/>
                <a:cs typeface="Arial" pitchFamily="34" charset="-120"/>
              </a:rPr>
              <a:t>+22,187 USDC vs JV</a:t>
            </a:r>
            <a:endParaRPr lang="en-US" sz="2000" dirty="0"/>
          </a:p>
        </p:txBody>
      </p:sp>
      <p:sp>
        <p:nvSpPr>
          <p:cNvPr id="23" name="Text 20"/>
          <p:cNvSpPr/>
          <p:nvPr/>
        </p:nvSpPr>
        <p:spPr>
          <a:xfrm>
            <a:off x="7315200" y="2490391"/>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90% range: +15,472 to +29,549</a:t>
            </a:r>
            <a:endParaRPr lang="en-US" sz="1200" dirty="0"/>
          </a:p>
        </p:txBody>
      </p:sp>
      <p:sp>
        <p:nvSpPr>
          <p:cNvPr id="24" name="Text 21"/>
          <p:cNvSpPr/>
          <p:nvPr/>
        </p:nvSpPr>
        <p:spPr>
          <a:xfrm>
            <a:off x="7315200" y="2906911"/>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July, if higher prices lose some buyers</a:t>
            </a:r>
            <a:endParaRPr lang="en-US" sz="1200" dirty="0"/>
          </a:p>
        </p:txBody>
      </p:sp>
      <p:sp>
        <p:nvSpPr>
          <p:cNvPr id="25" name="Text 22"/>
          <p:cNvSpPr/>
          <p:nvPr/>
        </p:nvSpPr>
        <p:spPr>
          <a:xfrm>
            <a:off x="7315200" y="3145631"/>
            <a:ext cx="418592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E2A36"/>
                </a:solidFill>
                <a:latin typeface="Arial" pitchFamily="34" charset="0"/>
                <a:ea typeface="Arial" pitchFamily="34" charset="-122"/>
                <a:cs typeface="Arial" pitchFamily="34" charset="-120"/>
              </a:rPr>
              <a:t>+10,782 USDC vs JV</a:t>
            </a:r>
            <a:endParaRPr lang="en-US" sz="2000" dirty="0"/>
          </a:p>
        </p:txBody>
      </p:sp>
      <p:sp>
        <p:nvSpPr>
          <p:cNvPr id="26" name="Text 23"/>
          <p:cNvSpPr/>
          <p:nvPr/>
        </p:nvSpPr>
        <p:spPr>
          <a:xfrm>
            <a:off x="7315200" y="3526631"/>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90% range: +3,506 to +18,719</a:t>
            </a:r>
            <a:endParaRPr lang="en-US" sz="1200" dirty="0"/>
          </a:p>
        </p:txBody>
      </p:sp>
      <p:sp>
        <p:nvSpPr>
          <p:cNvPr id="27" name="Shape 24"/>
          <p:cNvSpPr/>
          <p:nvPr/>
        </p:nvSpPr>
        <p:spPr>
          <a:xfrm>
            <a:off x="7318375" y="3946327"/>
            <a:ext cx="4057650" cy="1088281"/>
          </a:xfrm>
          <a:prstGeom prst="roundRect">
            <a:avLst>
              <a:gd name="adj" fmla="val 6710"/>
            </a:avLst>
          </a:prstGeom>
          <a:solidFill>
            <a:srgbClr val="F1F2EC"/>
          </a:solidFill>
          <a:ln w="6350">
            <a:solidFill>
              <a:srgbClr val="E1E3DD"/>
            </a:solidFill>
            <a:prstDash val="solid"/>
          </a:ln>
        </p:spPr>
      </p:sp>
      <p:sp>
        <p:nvSpPr>
          <p:cNvPr id="28" name="Text 25"/>
          <p:cNvSpPr/>
          <p:nvPr/>
        </p:nvSpPr>
        <p:spPr>
          <a:xfrm>
            <a:off x="7499350" y="4127302"/>
            <a:ext cx="380657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The main risk</a:t>
            </a:r>
            <a:endParaRPr lang="en-US" sz="1400" dirty="0"/>
          </a:p>
        </p:txBody>
      </p:sp>
      <p:sp>
        <p:nvSpPr>
          <p:cNvPr id="29" name="Text 26"/>
          <p:cNvSpPr/>
          <p:nvPr/>
        </p:nvSpPr>
        <p:spPr>
          <a:xfrm>
            <a:off x="7499350" y="4426992"/>
            <a:ext cx="380657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If buyers only accept prices no higher than JV’s, the model earns 3,715 USDC in July against JV’s 4,319.</a:t>
            </a:r>
            <a:endParaRPr lang="en-US" sz="1200" dirty="0"/>
          </a:p>
        </p:txBody>
      </p:sp>
      <p:sp>
        <p:nvSpPr>
          <p:cNvPr id="30" name="Text 27"/>
          <p:cNvSpPr/>
          <p:nvPr/>
        </p:nvSpPr>
        <p:spPr>
          <a:xfrm>
            <a:off x="812800" y="6238280"/>
            <a:ext cx="31680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Arial" pitchFamily="34" charset="0"/>
                <a:ea typeface="Arial" pitchFamily="34" charset="-122"/>
                <a:cs typeface="Arial" pitchFamily="34" charset="-120"/>
              </a:rPr>
              <a:t>Jasper Vault · Perpetual Protect pricing</a:t>
            </a:r>
            <a:endParaRPr lang="en-US" sz="1200" dirty="0"/>
          </a:p>
        </p:txBody>
      </p:sp>
      <p:sp>
        <p:nvSpPr>
          <p:cNvPr id="31" name="Text 28"/>
          <p:cNvSpPr/>
          <p:nvPr/>
        </p:nvSpPr>
        <p:spPr>
          <a:xfrm>
            <a:off x="11243618" y="6238280"/>
            <a:ext cx="13558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266AA"/>
                </a:solidFill>
                <a:latin typeface="Arial" pitchFamily="34" charset="0"/>
                <a:ea typeface="Arial" pitchFamily="34" charset="-122"/>
                <a:cs typeface="Arial" pitchFamily="34" charset="-120"/>
              </a:rPr>
              <a:t>06 · BETTER, NOT JUST HIGHER</a:t>
            </a:r>
            <a:endParaRPr lang="en-US" sz="1200" dirty="0"/>
          </a:p>
        </p:txBody>
      </p:sp>
      <p:sp>
        <p:nvSpPr>
          <p:cNvPr id="3" name="Text 1"/>
          <p:cNvSpPr/>
          <p:nvPr>
            <p:ph type="title"/>
          </p:nvPr>
        </p:nvSpPr>
        <p:spPr>
          <a:xfrm>
            <a:off x="812800" y="1127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E2A36"/>
                </a:solidFill>
                <a:latin typeface="Arial" pitchFamily="34" charset="0"/>
                <a:ea typeface="Arial" pitchFamily="34" charset="-122"/>
                <a:cs typeface="Arial" pitchFamily="34" charset="-120"/>
              </a:rPr>
              <a:t>Prices move to where the risk is</a:t>
            </a:r>
            <a:endParaRPr lang="en-US" sz="3000" dirty="0"/>
          </a:p>
        </p:txBody>
      </p:sp>
      <p:sp>
        <p:nvSpPr>
          <p:cNvPr id="4" name="Shape 2"/>
          <p:cNvSpPr/>
          <p:nvPr/>
        </p:nvSpPr>
        <p:spPr>
          <a:xfrm>
            <a:off x="812800" y="1913830"/>
            <a:ext cx="127000" cy="127000"/>
          </a:xfrm>
          <a:prstGeom prst="roundRect">
            <a:avLst>
              <a:gd name="adj" fmla="val 20000"/>
            </a:avLst>
          </a:prstGeom>
          <a:solidFill>
            <a:srgbClr val="C47A35"/>
          </a:solidFill>
          <a:ln/>
        </p:spPr>
      </p:sp>
      <p:sp>
        <p:nvSpPr>
          <p:cNvPr id="5" name="Text 3"/>
          <p:cNvSpPr/>
          <p:nvPr/>
        </p:nvSpPr>
        <p:spPr>
          <a:xfrm>
            <a:off x="1016000" y="1870670"/>
            <a:ext cx="21825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A36"/>
                </a:solidFill>
                <a:latin typeface="Arial" pitchFamily="34" charset="0"/>
                <a:ea typeface="Arial" pitchFamily="34" charset="-122"/>
                <a:cs typeface="Arial" pitchFamily="34" charset="-120"/>
              </a:rPr>
              <a:t>Loss ratio at JV’s actual price</a:t>
            </a:r>
            <a:endParaRPr lang="en-US" sz="1200" dirty="0"/>
          </a:p>
        </p:txBody>
      </p:sp>
      <p:sp>
        <p:nvSpPr>
          <p:cNvPr id="6" name="Shape 4"/>
          <p:cNvSpPr/>
          <p:nvPr/>
        </p:nvSpPr>
        <p:spPr>
          <a:xfrm>
            <a:off x="3198564" y="1913830"/>
            <a:ext cx="127000" cy="127000"/>
          </a:xfrm>
          <a:prstGeom prst="roundRect">
            <a:avLst>
              <a:gd name="adj" fmla="val 20000"/>
            </a:avLst>
          </a:prstGeom>
          <a:solidFill>
            <a:srgbClr val="2266AA"/>
          </a:solidFill>
          <a:ln/>
        </p:spPr>
      </p:sp>
      <p:sp>
        <p:nvSpPr>
          <p:cNvPr id="7" name="Text 5"/>
          <p:cNvSpPr/>
          <p:nvPr/>
        </p:nvSpPr>
        <p:spPr>
          <a:xfrm>
            <a:off x="3401764" y="1870670"/>
            <a:ext cx="16128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A36"/>
                </a:solidFill>
                <a:latin typeface="Arial" pitchFamily="34" charset="0"/>
                <a:ea typeface="Arial" pitchFamily="34" charset="-122"/>
                <a:cs typeface="Arial" pitchFamily="34" charset="-120"/>
              </a:rPr>
              <a:t>At our model’s price</a:t>
            </a:r>
            <a:endParaRPr lang="en-US" sz="1200" dirty="0"/>
          </a:p>
        </p:txBody>
      </p:sp>
      <p:pic>
        <p:nvPicPr>
          <p:cNvPr id="8" name="Image 0" descr="Grouped bar chart of loss ratio by product at JV’s price versus our model’s price: 30 min 0.65 vs 0.72, 1 h 0.96 vs 0.89, 2 h 0.88 vs 0.78, 4 h 1.14 vs 0.80, 8 h 1.00 vs 0.76, 24 h 0.37 vs 0.36, with a break-even line at 1.0">    </p:cNvPr>
          <p:cNvPicPr>
            <a:picLocks noChangeAspect="1"/>
          </p:cNvPicPr>
          <p:nvPr/>
        </p:nvPicPr>
        <p:blipFill>
          <a:blip r:embed="rId1"/>
          <a:srcRect l="0" r="0" t="0" b="0"/>
          <a:stretch/>
        </p:blipFill>
        <p:spPr>
          <a:xfrm>
            <a:off x="812800" y="2185591"/>
            <a:ext cx="5715000" cy="2921000"/>
          </a:xfrm>
          <a:prstGeom prst="rect">
            <a:avLst/>
          </a:prstGeom>
        </p:spPr>
      </p:pic>
      <p:sp>
        <p:nvSpPr>
          <p:cNvPr id="9" name="Text 6"/>
          <p:cNvSpPr/>
          <p:nvPr/>
        </p:nvSpPr>
        <p:spPr>
          <a:xfrm>
            <a:off x="819150" y="3360341"/>
            <a:ext cx="457200" cy="20826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1E2A36"/>
                </a:solidFill>
                <a:latin typeface="Arial" pitchFamily="34" charset="0"/>
                <a:ea typeface="Arial" pitchFamily="34" charset="-122"/>
                <a:cs typeface="Arial" pitchFamily="34" charset="-120"/>
              </a:rPr>
              <a:t>0.65</a:t>
            </a:r>
            <a:endParaRPr lang="en-US" sz="1200" dirty="0"/>
          </a:p>
        </p:txBody>
      </p:sp>
      <p:sp>
        <p:nvSpPr>
          <p:cNvPr id="10" name="Text 7"/>
          <p:cNvSpPr/>
          <p:nvPr/>
        </p:nvSpPr>
        <p:spPr>
          <a:xfrm>
            <a:off x="1301750" y="3233341"/>
            <a:ext cx="45720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E2A36"/>
                </a:solidFill>
                <a:latin typeface="Arial" pitchFamily="34" charset="0"/>
                <a:ea typeface="Arial" pitchFamily="34" charset="-122"/>
                <a:cs typeface="Arial" pitchFamily="34" charset="-120"/>
              </a:rPr>
              <a:t>0.72</a:t>
            </a:r>
            <a:endParaRPr lang="en-US" sz="1200" dirty="0"/>
          </a:p>
        </p:txBody>
      </p:sp>
      <p:sp>
        <p:nvSpPr>
          <p:cNvPr id="11" name="Text 8"/>
          <p:cNvSpPr/>
          <p:nvPr/>
        </p:nvSpPr>
        <p:spPr>
          <a:xfrm>
            <a:off x="3676650" y="2503091"/>
            <a:ext cx="457200" cy="20826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1E2A36"/>
                </a:solidFill>
                <a:latin typeface="Arial" pitchFamily="34" charset="0"/>
                <a:ea typeface="Arial" pitchFamily="34" charset="-122"/>
                <a:cs typeface="Arial" pitchFamily="34" charset="-120"/>
              </a:rPr>
              <a:t>1.14</a:t>
            </a:r>
            <a:endParaRPr lang="en-US" sz="1200" dirty="0"/>
          </a:p>
        </p:txBody>
      </p:sp>
      <p:sp>
        <p:nvSpPr>
          <p:cNvPr id="12" name="Text 9"/>
          <p:cNvSpPr/>
          <p:nvPr/>
        </p:nvSpPr>
        <p:spPr>
          <a:xfrm>
            <a:off x="4159250" y="3106341"/>
            <a:ext cx="45720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E2A36"/>
                </a:solidFill>
                <a:latin typeface="Arial" pitchFamily="34" charset="0"/>
                <a:ea typeface="Arial" pitchFamily="34" charset="-122"/>
                <a:cs typeface="Arial" pitchFamily="34" charset="-120"/>
              </a:rPr>
              <a:t>0.80</a:t>
            </a:r>
            <a:endParaRPr lang="en-US" sz="1200" dirty="0"/>
          </a:p>
        </p:txBody>
      </p:sp>
      <p:sp>
        <p:nvSpPr>
          <p:cNvPr id="13" name="Text 10"/>
          <p:cNvSpPr/>
          <p:nvPr/>
        </p:nvSpPr>
        <p:spPr>
          <a:xfrm>
            <a:off x="4629150" y="2744391"/>
            <a:ext cx="457200" cy="20826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1E2A36"/>
                </a:solidFill>
                <a:latin typeface="Arial" pitchFamily="34" charset="0"/>
                <a:ea typeface="Arial" pitchFamily="34" charset="-122"/>
                <a:cs typeface="Arial" pitchFamily="34" charset="-120"/>
              </a:rPr>
              <a:t>1.00</a:t>
            </a:r>
            <a:endParaRPr lang="en-US" sz="1200" dirty="0"/>
          </a:p>
        </p:txBody>
      </p:sp>
      <p:sp>
        <p:nvSpPr>
          <p:cNvPr id="14" name="Text 11"/>
          <p:cNvSpPr/>
          <p:nvPr/>
        </p:nvSpPr>
        <p:spPr>
          <a:xfrm>
            <a:off x="5111750" y="3169841"/>
            <a:ext cx="45720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E2A36"/>
                </a:solidFill>
                <a:latin typeface="Arial" pitchFamily="34" charset="0"/>
                <a:ea typeface="Arial" pitchFamily="34" charset="-122"/>
                <a:cs typeface="Arial" pitchFamily="34" charset="-120"/>
              </a:rPr>
              <a:t>0.76</a:t>
            </a:r>
            <a:endParaRPr lang="en-US" sz="1200" dirty="0"/>
          </a:p>
        </p:txBody>
      </p:sp>
      <p:sp>
        <p:nvSpPr>
          <p:cNvPr id="15" name="Text 12"/>
          <p:cNvSpPr/>
          <p:nvPr/>
        </p:nvSpPr>
        <p:spPr>
          <a:xfrm>
            <a:off x="5613400" y="3004741"/>
            <a:ext cx="96520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E2A36"/>
                </a:solidFill>
                <a:latin typeface="Arial" pitchFamily="34" charset="0"/>
                <a:ea typeface="Arial" pitchFamily="34" charset="-122"/>
                <a:cs typeface="Arial" pitchFamily="34" charset="-120"/>
              </a:rPr>
              <a:t>Break-even</a:t>
            </a:r>
            <a:endParaRPr lang="en-US" sz="1200" dirty="0"/>
          </a:p>
        </p:txBody>
      </p:sp>
      <p:sp>
        <p:nvSpPr>
          <p:cNvPr id="16" name="Text 13"/>
          <p:cNvSpPr/>
          <p:nvPr/>
        </p:nvSpPr>
        <p:spPr>
          <a:xfrm>
            <a:off x="787400" y="4839891"/>
            <a:ext cx="100330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30 min</a:t>
            </a:r>
            <a:endParaRPr lang="en-US" sz="1200" dirty="0"/>
          </a:p>
        </p:txBody>
      </p:sp>
      <p:sp>
        <p:nvSpPr>
          <p:cNvPr id="17" name="Text 14"/>
          <p:cNvSpPr/>
          <p:nvPr/>
        </p:nvSpPr>
        <p:spPr>
          <a:xfrm>
            <a:off x="1739900" y="4839891"/>
            <a:ext cx="100330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1 h</a:t>
            </a:r>
            <a:endParaRPr lang="en-US" sz="1200" dirty="0"/>
          </a:p>
        </p:txBody>
      </p:sp>
      <p:sp>
        <p:nvSpPr>
          <p:cNvPr id="18" name="Text 15"/>
          <p:cNvSpPr/>
          <p:nvPr/>
        </p:nvSpPr>
        <p:spPr>
          <a:xfrm>
            <a:off x="2692400" y="4839891"/>
            <a:ext cx="100330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2 h</a:t>
            </a:r>
            <a:endParaRPr lang="en-US" sz="1200" dirty="0"/>
          </a:p>
        </p:txBody>
      </p:sp>
      <p:sp>
        <p:nvSpPr>
          <p:cNvPr id="19" name="Text 16"/>
          <p:cNvSpPr/>
          <p:nvPr/>
        </p:nvSpPr>
        <p:spPr>
          <a:xfrm>
            <a:off x="3644900" y="4839891"/>
            <a:ext cx="100330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4 h</a:t>
            </a:r>
            <a:endParaRPr lang="en-US" sz="1200" dirty="0"/>
          </a:p>
        </p:txBody>
      </p:sp>
      <p:sp>
        <p:nvSpPr>
          <p:cNvPr id="20" name="Text 17"/>
          <p:cNvSpPr/>
          <p:nvPr/>
        </p:nvSpPr>
        <p:spPr>
          <a:xfrm>
            <a:off x="4597400" y="4839891"/>
            <a:ext cx="100330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8 h</a:t>
            </a:r>
            <a:endParaRPr lang="en-US" sz="1200" dirty="0"/>
          </a:p>
        </p:txBody>
      </p:sp>
      <p:sp>
        <p:nvSpPr>
          <p:cNvPr id="21" name="Text 18"/>
          <p:cNvSpPr/>
          <p:nvPr/>
        </p:nvSpPr>
        <p:spPr>
          <a:xfrm>
            <a:off x="5549900" y="4839891"/>
            <a:ext cx="1003300" cy="20826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4A5563"/>
                </a:solidFill>
                <a:latin typeface="Arial" pitchFamily="34" charset="0"/>
                <a:ea typeface="Arial" pitchFamily="34" charset="-122"/>
                <a:cs typeface="Arial" pitchFamily="34" charset="-120"/>
              </a:rPr>
              <a:t>24 h</a:t>
            </a:r>
            <a:endParaRPr lang="en-US" sz="1200" dirty="0"/>
          </a:p>
        </p:txBody>
      </p:sp>
      <p:sp>
        <p:nvSpPr>
          <p:cNvPr id="22" name="Text 19"/>
          <p:cNvSpPr/>
          <p:nvPr/>
        </p:nvSpPr>
        <p:spPr>
          <a:xfrm>
            <a:off x="812800" y="5208191"/>
            <a:ext cx="588645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3"/>
                </a:solidFill>
                <a:latin typeface="Arial" pitchFamily="34" charset="0"/>
                <a:ea typeface="Arial" pitchFamily="34" charset="-122"/>
                <a:cs typeface="Arial" pitchFamily="34" charset="-120"/>
              </a:rPr>
              <a:t>Payouts ÷ premiums by product, Feb–Jul, on the same orders with buyers assumed to behave as before.</a:t>
            </a:r>
            <a:endParaRPr lang="en-US" sz="1200" dirty="0"/>
          </a:p>
        </p:txBody>
      </p:sp>
      <p:sp>
        <p:nvSpPr>
          <p:cNvPr id="23" name="Text 20"/>
          <p:cNvSpPr/>
          <p:nvPr/>
        </p:nvSpPr>
        <p:spPr>
          <a:xfrm>
            <a:off x="6934200" y="1870670"/>
            <a:ext cx="457835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E2A36"/>
                </a:solidFill>
                <a:latin typeface="Arial" pitchFamily="34" charset="0"/>
                <a:ea typeface="Arial" pitchFamily="34" charset="-122"/>
                <a:cs typeface="Arial" pitchFamily="34" charset="-120"/>
              </a:rPr>
              <a:t>58% of orders</a:t>
            </a:r>
            <a:endParaRPr lang="en-US" sz="2000" dirty="0"/>
          </a:p>
        </p:txBody>
      </p:sp>
      <p:sp>
        <p:nvSpPr>
          <p:cNvPr id="24" name="Text 21"/>
          <p:cNvSpPr/>
          <p:nvPr/>
        </p:nvSpPr>
        <p:spPr>
          <a:xfrm>
            <a:off x="6934200" y="225167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get a lower price than JV charged (66% in July)</a:t>
            </a:r>
            <a:endParaRPr lang="en-US" sz="1200" dirty="0"/>
          </a:p>
        </p:txBody>
      </p:sp>
      <p:sp>
        <p:nvSpPr>
          <p:cNvPr id="25" name="Text 22"/>
          <p:cNvSpPr/>
          <p:nvPr/>
        </p:nvSpPr>
        <p:spPr>
          <a:xfrm>
            <a:off x="6934200" y="2642791"/>
            <a:ext cx="457835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E2A36"/>
                </a:solidFill>
                <a:latin typeface="Arial" pitchFamily="34" charset="0"/>
                <a:ea typeface="Arial" pitchFamily="34" charset="-122"/>
                <a:cs typeface="Arial" pitchFamily="34" charset="-120"/>
              </a:rPr>
              <a:t>0.957 × JV’s price</a:t>
            </a:r>
            <a:endParaRPr lang="en-US" sz="2000" dirty="0"/>
          </a:p>
        </p:txBody>
      </p:sp>
      <p:sp>
        <p:nvSpPr>
          <p:cNvPr id="26" name="Text 23"/>
          <p:cNvSpPr/>
          <p:nvPr/>
        </p:nvSpPr>
        <p:spPr>
          <a:xfrm>
            <a:off x="6934200" y="3023791"/>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on the 544 August orders where JV’s own price is visible</a:t>
            </a:r>
            <a:endParaRPr lang="en-US" sz="1200" dirty="0"/>
          </a:p>
        </p:txBody>
      </p:sp>
      <p:sp>
        <p:nvSpPr>
          <p:cNvPr id="27" name="Text 24"/>
          <p:cNvSpPr/>
          <p:nvPr/>
        </p:nvSpPr>
        <p:spPr>
          <a:xfrm>
            <a:off x="6934200" y="3414911"/>
            <a:ext cx="457835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E2A36"/>
                </a:solidFill>
                <a:latin typeface="Arial" pitchFamily="34" charset="0"/>
                <a:ea typeface="Arial" pitchFamily="34" charset="-122"/>
                <a:cs typeface="Arial" pitchFamily="34" charset="-120"/>
              </a:rPr>
              <a:t>It ranks risk</a:t>
            </a:r>
            <a:endParaRPr lang="en-US" sz="2000" dirty="0"/>
          </a:p>
        </p:txBody>
      </p:sp>
      <p:sp>
        <p:nvSpPr>
          <p:cNvPr id="28" name="Text 25"/>
          <p:cNvSpPr/>
          <p:nvPr/>
        </p:nvSpPr>
        <p:spPr>
          <a:xfrm>
            <a:off x="6934200" y="3795911"/>
            <a:ext cx="45783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Orders the model prices higher really do pay out more, in training and in July.</a:t>
            </a:r>
            <a:endParaRPr lang="en-US" sz="1200" dirty="0"/>
          </a:p>
        </p:txBody>
      </p:sp>
      <p:sp>
        <p:nvSpPr>
          <p:cNvPr id="29" name="Text 26"/>
          <p:cNvSpPr/>
          <p:nvPr/>
        </p:nvSpPr>
        <p:spPr>
          <a:xfrm>
            <a:off x="6934200" y="4400352"/>
            <a:ext cx="457835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In training the model charged 1.17–1.21× JV on average, and a flat raise to the same total did about as well. Its edge: it needs no JV price and puts the price where the risk is.</a:t>
            </a:r>
            <a:endParaRPr lang="en-US" sz="1200" dirty="0"/>
          </a:p>
        </p:txBody>
      </p:sp>
      <p:sp>
        <p:nvSpPr>
          <p:cNvPr id="30" name="Text 27"/>
          <p:cNvSpPr/>
          <p:nvPr/>
        </p:nvSpPr>
        <p:spPr>
          <a:xfrm>
            <a:off x="812800" y="6238280"/>
            <a:ext cx="31680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Arial" pitchFamily="34" charset="0"/>
                <a:ea typeface="Arial" pitchFamily="34" charset="-122"/>
                <a:cs typeface="Arial" pitchFamily="34" charset="-120"/>
              </a:rPr>
              <a:t>Jasper Vault · Perpetual Protect pricing</a:t>
            </a:r>
            <a:endParaRPr lang="en-US" sz="1200" dirty="0"/>
          </a:p>
        </p:txBody>
      </p:sp>
      <p:sp>
        <p:nvSpPr>
          <p:cNvPr id="31" name="Text 28"/>
          <p:cNvSpPr/>
          <p:nvPr/>
        </p:nvSpPr>
        <p:spPr>
          <a:xfrm>
            <a:off x="11243618" y="6238280"/>
            <a:ext cx="13558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266AA"/>
                </a:solidFill>
                <a:latin typeface="Arial" pitchFamily="34" charset="0"/>
                <a:ea typeface="Arial" pitchFamily="34" charset="-122"/>
                <a:cs typeface="Arial" pitchFamily="34" charset="-120"/>
              </a:rPr>
              <a:t>07 · RISK</a:t>
            </a:r>
            <a:endParaRPr lang="en-US" sz="1200" dirty="0"/>
          </a:p>
        </p:txBody>
      </p:sp>
      <p:sp>
        <p:nvSpPr>
          <p:cNvPr id="3" name="Text 1"/>
          <p:cNvSpPr/>
          <p:nvPr>
            <p:ph type="title"/>
          </p:nvPr>
        </p:nvSpPr>
        <p:spPr>
          <a:xfrm>
            <a:off x="812800" y="1127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E2A36"/>
                </a:solidFill>
                <a:latin typeface="Arial" pitchFamily="34" charset="0"/>
                <a:ea typeface="Arial" pitchFamily="34" charset="-122"/>
                <a:cs typeface="Arial" pitchFamily="34" charset="-120"/>
              </a:rPr>
              <a:t>Cap the exposure instead of raising every price</a:t>
            </a:r>
            <a:endParaRPr lang="en-US" sz="3000" dirty="0"/>
          </a:p>
        </p:txBody>
      </p:sp>
      <p:sp>
        <p:nvSpPr>
          <p:cNvPr id="4" name="Text 2"/>
          <p:cNvSpPr/>
          <p:nvPr/>
        </p:nvSpPr>
        <p:spPr>
          <a:xfrm>
            <a:off x="812800" y="1870670"/>
            <a:ext cx="3924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Why a cap</a:t>
            </a:r>
            <a:endParaRPr lang="en-US" sz="1400" dirty="0"/>
          </a:p>
        </p:txBody>
      </p:sp>
      <p:sp>
        <p:nvSpPr>
          <p:cNvPr id="5" name="Text 3"/>
          <p:cNvSpPr/>
          <p:nvPr/>
        </p:nvSpPr>
        <p:spPr>
          <a:xfrm>
            <a:off x="812800" y="2170361"/>
            <a:ext cx="3924300"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Arial" pitchFamily="34" charset="0"/>
                <a:ea typeface="Arial" pitchFamily="34" charset="-122"/>
                <a:cs typeface="Arial" pitchFamily="34" charset="-120"/>
              </a:rPr>
              <a:t>JV’s gain on an order is limited to the premium; its loss is not. Losses bunch on a few trending days that no price can foresee.</a:t>
            </a:r>
            <a:endParaRPr lang="en-US" sz="1400" dirty="0"/>
          </a:p>
        </p:txBody>
      </p:sp>
      <p:sp>
        <p:nvSpPr>
          <p:cNvPr id="6" name="Shape 4"/>
          <p:cNvSpPr/>
          <p:nvPr/>
        </p:nvSpPr>
        <p:spPr>
          <a:xfrm>
            <a:off x="815975" y="3123406"/>
            <a:ext cx="3803650" cy="1687661"/>
          </a:xfrm>
          <a:prstGeom prst="roundRect">
            <a:avLst>
              <a:gd name="adj" fmla="val 4327"/>
            </a:avLst>
          </a:prstGeom>
          <a:solidFill>
            <a:srgbClr val="F1F2EC"/>
          </a:solidFill>
          <a:ln w="6350">
            <a:solidFill>
              <a:srgbClr val="E1E3DD"/>
            </a:solidFill>
            <a:prstDash val="solid"/>
          </a:ln>
        </p:spPr>
      </p:sp>
      <p:sp>
        <p:nvSpPr>
          <p:cNvPr id="7" name="Text 5"/>
          <p:cNvSpPr/>
          <p:nvPr/>
        </p:nvSpPr>
        <p:spPr>
          <a:xfrm>
            <a:off x="1022350" y="3329781"/>
            <a:ext cx="349262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Recommendation</a:t>
            </a:r>
            <a:endParaRPr lang="en-US" sz="1400" dirty="0"/>
          </a:p>
        </p:txBody>
      </p:sp>
      <p:sp>
        <p:nvSpPr>
          <p:cNvPr id="8" name="Text 6"/>
          <p:cNvSpPr/>
          <p:nvPr/>
        </p:nvSpPr>
        <p:spPr>
          <a:xfrm>
            <a:off x="1022350" y="3629471"/>
            <a:ext cx="349262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A36"/>
                </a:solidFill>
                <a:latin typeface="Arial" pitchFamily="34" charset="0"/>
                <a:ea typeface="Arial" pitchFamily="34" charset="-122"/>
                <a:cs typeface="Arial" pitchFamily="34" charset="-120"/>
              </a:rPr>
              <a:t>Pause new sales in one direction once open protection exceeds 250,000 USDC.</a:t>
            </a:r>
            <a:endParaRPr lang="en-US" sz="1400" dirty="0"/>
          </a:p>
        </p:txBody>
      </p:sp>
      <p:sp>
        <p:nvSpPr>
          <p:cNvPr id="9" name="Text 7"/>
          <p:cNvSpPr/>
          <p:nvPr/>
        </p:nvSpPr>
        <p:spPr>
          <a:xfrm>
            <a:off x="1022350" y="4178052"/>
            <a:ext cx="34926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Costs 11% of profit; the worst day improves from −8,399 to −6,594 USDC.</a:t>
            </a:r>
            <a:endParaRPr lang="en-US" sz="1200" dirty="0"/>
          </a:p>
        </p:txBody>
      </p:sp>
      <p:sp>
        <p:nvSpPr>
          <p:cNvPr id="10" name="Text 8"/>
          <p:cNvSpPr/>
          <p:nvPr/>
        </p:nvSpPr>
        <p:spPr>
          <a:xfrm>
            <a:off x="5029200" y="1870670"/>
            <a:ext cx="65405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Exposure cap trade-off, Feb–Jul (USDC)</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41900" y="2233861"/>
          <a:ext cx="6337300" cy="2697411"/>
        </p:xfrm>
        <a:graphic>
          <a:graphicData uri="http://schemas.openxmlformats.org/drawingml/2006/table">
            <a:tbl>
              <a:tblPr/>
              <a:tblGrid>
                <a:gridCol w="2408174"/>
                <a:gridCol w="1267460"/>
                <a:gridCol w="1394206"/>
                <a:gridCol w="1267460"/>
              </a:tblGrid>
              <a:tr h="678160">
                <a:tc>
                  <a:txBody>
                    <a:bodyPr/>
                    <a:lstStyle/>
                    <a:p>
                      <a:pPr indent="0" marL="0">
                        <a:lnSpc>
                          <a:spcPts val="1960"/>
                        </a:lnSpc>
                        <a:buNone/>
                      </a:pPr>
                      <a:r>
                        <a:rPr lang="en-US" sz="1400" b="1" dirty="0">
                          <a:solidFill>
                            <a:srgbClr val="1E2A36"/>
                          </a:solidFill>
                          <a:latin typeface="Arial" pitchFamily="34" charset="0"/>
                          <a:ea typeface="Arial" pitchFamily="34" charset="-122"/>
                          <a:cs typeface="Arial" pitchFamily="34" charset="-120"/>
                        </a:rPr>
                        <a:t>Rule</a:t>
                      </a:r>
                      <a:endParaRPr lang="en-US" sz="14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BABC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ABCB7"/>
                      </a:solidFill>
                      <a:prstDash val="solid"/>
                      <a:round/>
                      <a:headEnd type="none" w="med" len="med"/>
                      <a:tailEnd type="none" w="med" len="med"/>
                    </a:lnB>
                    <a:solidFill>
                      <a:srgbClr val="E9EBE5"/>
                    </a:solidFill>
                  </a:tcPr>
                </a:tc>
                <a:tc>
                  <a:txBody>
                    <a:bodyPr/>
                    <a:lstStyle/>
                    <a:p>
                      <a:pPr algn="r" indent="0" marL="0">
                        <a:lnSpc>
                          <a:spcPts val="1960"/>
                        </a:lnSpc>
                        <a:buNone/>
                      </a:pPr>
                      <a:r>
                        <a:rPr lang="en-US" sz="1400" b="1" dirty="0">
                          <a:solidFill>
                            <a:srgbClr val="1E2A36"/>
                          </a:solidFill>
                          <a:latin typeface="Arial" pitchFamily="34" charset="0"/>
                          <a:ea typeface="Arial" pitchFamily="34" charset="-122"/>
                          <a:cs typeface="Arial" pitchFamily="34" charset="-120"/>
                        </a:rPr>
                        <a:t>Profit</a:t>
                      </a:r>
                      <a:endParaRPr lang="en-US" sz="1400" dirty="0">
                        <a:latin typeface="Arial" charset="0"/>
                        <a:ea typeface="Arial" charset="0"/>
                        <a:cs typeface="Arial" charset="0"/>
                      </a:endParaRPr>
                    </a:p>
                  </a:txBody>
                  <a:tcPr marL="101600" marR="101600" marT="101600" marB="101600" anchor="t">
                    <a:lnL w="12700" cap="flat" cmpd="sng" algn="ctr">
                      <a:solidFill>
                        <a:srgbClr val="BABCB7"/>
                      </a:solidFill>
                      <a:prstDash val="solid"/>
                      <a:round/>
                      <a:headEnd type="none" w="med" len="med"/>
                      <a:tailEnd type="none" w="med" len="med"/>
                    </a:lnL>
                    <a:lnR w="12700" cap="flat" cmpd="sng" algn="ctr">
                      <a:solidFill>
                        <a:srgbClr val="BABC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ABCB7"/>
                      </a:solidFill>
                      <a:prstDash val="solid"/>
                      <a:round/>
                      <a:headEnd type="none" w="med" len="med"/>
                      <a:tailEnd type="none" w="med" len="med"/>
                    </a:lnB>
                    <a:solidFill>
                      <a:srgbClr val="E9EBE5"/>
                    </a:solidFill>
                  </a:tcPr>
                </a:tc>
                <a:tc>
                  <a:txBody>
                    <a:bodyPr/>
                    <a:lstStyle/>
                    <a:p>
                      <a:pPr algn="r" indent="0" marL="0">
                        <a:lnSpc>
                          <a:spcPts val="1960"/>
                        </a:lnSpc>
                        <a:buNone/>
                      </a:pPr>
                      <a:r>
                        <a:rPr lang="en-US" sz="1400" b="1" dirty="0">
                          <a:solidFill>
                            <a:srgbClr val="1E2A36"/>
                          </a:solidFill>
                          <a:latin typeface="Arial" pitchFamily="34" charset="0"/>
                          <a:ea typeface="Arial" pitchFamily="34" charset="-122"/>
                          <a:cs typeface="Arial" pitchFamily="34" charset="-120"/>
                        </a:rPr>
                        <a:t>Premium turned away</a:t>
                      </a:r>
                      <a:endParaRPr lang="en-US" sz="1400" dirty="0">
                        <a:latin typeface="Arial" charset="0"/>
                        <a:ea typeface="Arial" charset="0"/>
                        <a:cs typeface="Arial" charset="0"/>
                      </a:endParaRPr>
                    </a:p>
                  </a:txBody>
                  <a:tcPr marL="101600" marR="101600" marT="101600" marB="101600" anchor="t">
                    <a:lnL w="12700" cap="flat" cmpd="sng" algn="ctr">
                      <a:solidFill>
                        <a:srgbClr val="BABCB7"/>
                      </a:solidFill>
                      <a:prstDash val="solid"/>
                      <a:round/>
                      <a:headEnd type="none" w="med" len="med"/>
                      <a:tailEnd type="none" w="med" len="med"/>
                    </a:lnL>
                    <a:lnR w="12700" cap="flat" cmpd="sng" algn="ctr">
                      <a:solidFill>
                        <a:srgbClr val="BABC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ABCB7"/>
                      </a:solidFill>
                      <a:prstDash val="solid"/>
                      <a:round/>
                      <a:headEnd type="none" w="med" len="med"/>
                      <a:tailEnd type="none" w="med" len="med"/>
                    </a:lnB>
                    <a:solidFill>
                      <a:srgbClr val="E9EBE5"/>
                    </a:solidFill>
                  </a:tcPr>
                </a:tc>
                <a:tc>
                  <a:txBody>
                    <a:bodyPr/>
                    <a:lstStyle/>
                    <a:p>
                      <a:pPr algn="r" indent="0" marL="0">
                        <a:lnSpc>
                          <a:spcPts val="1960"/>
                        </a:lnSpc>
                        <a:buNone/>
                      </a:pPr>
                      <a:r>
                        <a:rPr lang="en-US" sz="1400" b="1" dirty="0">
                          <a:solidFill>
                            <a:srgbClr val="1E2A36"/>
                          </a:solidFill>
                          <a:latin typeface="Arial" pitchFamily="34" charset="0"/>
                          <a:ea typeface="Arial" pitchFamily="34" charset="-122"/>
                          <a:cs typeface="Arial" pitchFamily="34" charset="-120"/>
                        </a:rPr>
                        <a:t>Worst day</a:t>
                      </a:r>
                      <a:endParaRPr lang="en-US" sz="1400" dirty="0">
                        <a:latin typeface="Arial" charset="0"/>
                        <a:ea typeface="Arial" charset="0"/>
                        <a:cs typeface="Arial" charset="0"/>
                      </a:endParaRPr>
                    </a:p>
                  </a:txBody>
                  <a:tcPr marL="101600" marR="101600" marT="101600" marB="101600" anchor="t">
                    <a:lnL w="12700" cap="flat" cmpd="sng" algn="ctr">
                      <a:solidFill>
                        <a:srgbClr val="BABCB7"/>
                      </a:solidFill>
                      <a:prstDash val="solid"/>
                      <a:round/>
                      <a:headEnd type="none" w="med" len="med"/>
                      <a:tailEnd type="none" w="med" len="med"/>
                    </a:lnL>
                    <a:lnR w="12700" cap="flat" cmpd="sng" algn="ctr">
                      <a:solidFill>
                        <a:srgbClr val="BABCB7"/>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ABCB7"/>
                      </a:solidFill>
                      <a:prstDash val="solid"/>
                      <a:round/>
                      <a:headEnd type="none" w="med" len="med"/>
                      <a:tailEnd type="none" w="med" len="med"/>
                    </a:lnB>
                    <a:solidFill>
                      <a:srgbClr val="E9EBE5"/>
                    </a:solidFill>
                  </a:tcPr>
                </a:tc>
              </a:tr>
              <a:tr h="447030">
                <a:tc>
                  <a:txBody>
                    <a:bodyPr/>
                    <a:lstStyle/>
                    <a:p>
                      <a:pPr indent="0" marL="0">
                        <a:lnSpc>
                          <a:spcPts val="1960"/>
                        </a:lnSpc>
                        <a:buNone/>
                      </a:pPr>
                      <a:r>
                        <a:rPr lang="en-US" sz="1400" dirty="0">
                          <a:solidFill>
                            <a:srgbClr val="1E2A36"/>
                          </a:solidFill>
                          <a:latin typeface="Arial" pitchFamily="34" charset="0"/>
                          <a:ea typeface="Arial" pitchFamily="34" charset="-122"/>
                          <a:cs typeface="Arial" pitchFamily="34" charset="-120"/>
                        </a:rPr>
                        <a:t>No cap</a:t>
                      </a:r>
                      <a:endParaRPr lang="en-US" sz="14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ABC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r" indent="0" marL="0">
                        <a:lnSpc>
                          <a:spcPts val="1960"/>
                        </a:lnSpc>
                        <a:buNone/>
                      </a:pPr>
                      <a:r>
                        <a:rPr lang="en-US" sz="1400" dirty="0">
                          <a:solidFill>
                            <a:srgbClr val="1E2A36"/>
                          </a:solidFill>
                          <a:latin typeface="Arial" pitchFamily="34" charset="0"/>
                          <a:ea typeface="Arial" pitchFamily="34" charset="-122"/>
                          <a:cs typeface="Arial" pitchFamily="34" charset="-120"/>
                        </a:rPr>
                        <a:t>62,879</a:t>
                      </a:r>
                      <a:endParaRPr lang="en-US" sz="14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ABC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r" indent="0" marL="0">
                        <a:lnSpc>
                          <a:spcPts val="1960"/>
                        </a:lnSpc>
                        <a:buNone/>
                      </a:pPr>
                      <a:r>
                        <a:rPr lang="en-US" sz="1400" dirty="0">
                          <a:solidFill>
                            <a:srgbClr val="1E2A36"/>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ABC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r" indent="0" marL="0">
                        <a:lnSpc>
                          <a:spcPts val="1960"/>
                        </a:lnSpc>
                        <a:buNone/>
                      </a:pPr>
                      <a:r>
                        <a:rPr lang="en-US" sz="1400" dirty="0">
                          <a:solidFill>
                            <a:srgbClr val="1E2A36"/>
                          </a:solidFill>
                          <a:latin typeface="Arial" pitchFamily="34" charset="0"/>
                          <a:ea typeface="Arial" pitchFamily="34" charset="-122"/>
                          <a:cs typeface="Arial" pitchFamily="34" charset="-120"/>
                        </a:rPr>
                        <a:t>−8,399</a:t>
                      </a:r>
                      <a:endParaRPr lang="en-US" sz="14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ABCB7"/>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447030">
                <a:tc>
                  <a:txBody>
                    <a:bodyPr/>
                    <a:lstStyle/>
                    <a:p>
                      <a:pPr indent="0" marL="0">
                        <a:lnSpc>
                          <a:spcPts val="1960"/>
                        </a:lnSpc>
                        <a:buNone/>
                      </a:pPr>
                      <a:r>
                        <a:rPr lang="en-US" sz="1400" dirty="0">
                          <a:solidFill>
                            <a:srgbClr val="1E2A36"/>
                          </a:solidFill>
                          <a:latin typeface="Arial" pitchFamily="34" charset="0"/>
                          <a:ea typeface="Arial" pitchFamily="34" charset="-122"/>
                          <a:cs typeface="Arial" pitchFamily="34" charset="-120"/>
                        </a:rPr>
                        <a:t>Cap at 400,000</a:t>
                      </a:r>
                      <a:endParaRPr lang="en-US" sz="14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r" indent="0" marL="0">
                        <a:lnSpc>
                          <a:spcPts val="1960"/>
                        </a:lnSpc>
                        <a:buNone/>
                      </a:pPr>
                      <a:r>
                        <a:rPr lang="en-US" sz="1400" dirty="0">
                          <a:solidFill>
                            <a:srgbClr val="1E2A36"/>
                          </a:solidFill>
                          <a:latin typeface="Arial" pitchFamily="34" charset="0"/>
                          <a:ea typeface="Arial" pitchFamily="34" charset="-122"/>
                          <a:cs typeface="Arial" pitchFamily="34" charset="-120"/>
                        </a:rPr>
                        <a:t>61,653</a:t>
                      </a:r>
                      <a:endParaRPr lang="en-US" sz="14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r" indent="0" marL="0">
                        <a:lnSpc>
                          <a:spcPts val="1960"/>
                        </a:lnSpc>
                        <a:buNone/>
                      </a:pPr>
                      <a:r>
                        <a:rPr lang="en-US" sz="1400" dirty="0">
                          <a:solidFill>
                            <a:srgbClr val="1E2A36"/>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r" indent="0" marL="0">
                        <a:lnSpc>
                          <a:spcPts val="1960"/>
                        </a:lnSpc>
                        <a:buNone/>
                      </a:pPr>
                      <a:r>
                        <a:rPr lang="en-US" sz="1400" dirty="0">
                          <a:solidFill>
                            <a:srgbClr val="1E2A36"/>
                          </a:solidFill>
                          <a:latin typeface="Arial" pitchFamily="34" charset="0"/>
                          <a:ea typeface="Arial" pitchFamily="34" charset="-122"/>
                          <a:cs typeface="Arial" pitchFamily="34" charset="-120"/>
                        </a:rPr>
                        <a:t>−8,399</a:t>
                      </a:r>
                      <a:endParaRPr lang="en-US" sz="14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678160">
                <a:tc>
                  <a:txBody>
                    <a:bodyPr/>
                    <a:lstStyle/>
                    <a:p>
                      <a:pPr indent="0" marL="0">
                        <a:lnSpc>
                          <a:spcPts val="1960"/>
                        </a:lnSpc>
                        <a:buNone/>
                      </a:pPr>
                      <a:r>
                        <a:rPr lang="en-US" sz="1400" dirty="0">
                          <a:solidFill>
                            <a:srgbClr val="1E2A36"/>
                          </a:solidFill>
                          <a:latin typeface="Arial" pitchFamily="34" charset="0"/>
                          <a:ea typeface="Arial" pitchFamily="34" charset="-122"/>
                          <a:cs typeface="Arial" pitchFamily="34" charset="-120"/>
                        </a:rPr>
                        <a:t>Cap at 250,000 (recommended)</a:t>
                      </a:r>
                      <a:endParaRPr lang="en-US" sz="14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algn="r" indent="0" marL="0">
                        <a:lnSpc>
                          <a:spcPts val="1960"/>
                        </a:lnSpc>
                        <a:buNone/>
                      </a:pPr>
                      <a:r>
                        <a:rPr lang="en-US" sz="1400" dirty="0">
                          <a:solidFill>
                            <a:srgbClr val="1E2A36"/>
                          </a:solidFill>
                          <a:latin typeface="Arial" pitchFamily="34" charset="0"/>
                          <a:ea typeface="Arial" pitchFamily="34" charset="-122"/>
                          <a:cs typeface="Arial" pitchFamily="34" charset="-120"/>
                        </a:rPr>
                        <a:t>55,753</a:t>
                      </a:r>
                      <a:endParaRPr lang="en-US" sz="1400" dirty="0">
                        <a:latin typeface="Arial" charset="0"/>
                        <a:ea typeface="Arial" charset="0"/>
                        <a:cs typeface="Arial" charset="0"/>
                      </a:endParaRPr>
                    </a:p>
                  </a:txBody>
                  <a:tcPr marL="101600" marR="101600" marT="101600" marB="101600"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algn="r" indent="0" marL="0">
                        <a:lnSpc>
                          <a:spcPts val="1960"/>
                        </a:lnSpc>
                        <a:buNone/>
                      </a:pPr>
                      <a:r>
                        <a:rPr lang="en-US" sz="1400" dirty="0">
                          <a:solidFill>
                            <a:srgbClr val="1E2A36"/>
                          </a:solidFill>
                          <a:latin typeface="Arial" pitchFamily="34" charset="0"/>
                          <a:ea typeface="Arial" pitchFamily="34" charset="-122"/>
                          <a:cs typeface="Arial" pitchFamily="34" charset="-120"/>
                        </a:rPr>
                        <a:t>15%</a:t>
                      </a:r>
                      <a:endParaRPr lang="en-US" sz="1400" dirty="0">
                        <a:latin typeface="Arial" charset="0"/>
                        <a:ea typeface="Arial" charset="0"/>
                        <a:cs typeface="Arial" charset="0"/>
                      </a:endParaRPr>
                    </a:p>
                  </a:txBody>
                  <a:tcPr marL="101600" marR="101600" marT="101600" marB="101600"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c>
                  <a:txBody>
                    <a:bodyPr/>
                    <a:lstStyle/>
                    <a:p>
                      <a:pPr algn="r" indent="0" marL="0">
                        <a:lnSpc>
                          <a:spcPts val="1960"/>
                        </a:lnSpc>
                        <a:buNone/>
                      </a:pPr>
                      <a:r>
                        <a:rPr lang="en-US" sz="1400" dirty="0">
                          <a:solidFill>
                            <a:srgbClr val="1E2A36"/>
                          </a:solidFill>
                          <a:latin typeface="Arial" pitchFamily="34" charset="0"/>
                          <a:ea typeface="Arial" pitchFamily="34" charset="-122"/>
                          <a:cs typeface="Arial" pitchFamily="34" charset="-120"/>
                        </a:rPr>
                        <a:t>−6,594</a:t>
                      </a:r>
                      <a:endParaRPr lang="en-US" sz="1400" dirty="0">
                        <a:latin typeface="Arial" charset="0"/>
                        <a:ea typeface="Arial" charset="0"/>
                        <a:cs typeface="Arial" charset="0"/>
                      </a:endParaRPr>
                    </a:p>
                  </a:txBody>
                  <a:tcPr marL="101600" marR="101600" marT="101600" marB="101600" anchor="t">
                    <a:lnL w="12700" cap="flat" cmpd="sng" algn="ctr">
                      <a:solidFill>
                        <a:srgbClr val="B8BDC3"/>
                      </a:solidFill>
                      <a:prstDash val="solid"/>
                      <a:round/>
                      <a:headEnd type="none" w="med" len="med"/>
                      <a:tailEnd type="none" w="med" len="med"/>
                    </a:lnL>
                    <a:lnR w="12700" cap="flat" cmpd="sng" algn="ctr">
                      <a:solidFill>
                        <a:srgbClr val="B8BDC3"/>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B8BDC3"/>
                      </a:solidFill>
                      <a:prstDash val="solid"/>
                      <a:round/>
                      <a:headEnd type="none" w="med" len="med"/>
                      <a:tailEnd type="none" w="med" len="med"/>
                    </a:lnB>
                    <a:solidFill>
                      <a:srgbClr val="E6EDF5"/>
                    </a:solidFill>
                  </a:tcPr>
                </a:tc>
              </a:tr>
              <a:tr h="447030">
                <a:tc>
                  <a:txBody>
                    <a:bodyPr/>
                    <a:lstStyle/>
                    <a:p>
                      <a:pPr indent="0" marL="0">
                        <a:lnSpc>
                          <a:spcPts val="1960"/>
                        </a:lnSpc>
                        <a:buNone/>
                      </a:pPr>
                      <a:r>
                        <a:rPr lang="en-US" sz="1400" dirty="0">
                          <a:solidFill>
                            <a:srgbClr val="1E2A36"/>
                          </a:solidFill>
                          <a:latin typeface="Arial" pitchFamily="34" charset="0"/>
                          <a:ea typeface="Arial" pitchFamily="34" charset="-122"/>
                          <a:cs typeface="Arial" pitchFamily="34" charset="-120"/>
                        </a:rPr>
                        <a:t>Cap at 150,000</a:t>
                      </a:r>
                      <a:endParaRPr lang="en-US" sz="14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r" indent="0" marL="0">
                        <a:lnSpc>
                          <a:spcPts val="1960"/>
                        </a:lnSpc>
                        <a:buNone/>
                      </a:pPr>
                      <a:r>
                        <a:rPr lang="en-US" sz="1400" dirty="0">
                          <a:solidFill>
                            <a:srgbClr val="1E2A36"/>
                          </a:solidFill>
                          <a:latin typeface="Arial" pitchFamily="34" charset="0"/>
                          <a:ea typeface="Arial" pitchFamily="34" charset="-122"/>
                          <a:cs typeface="Arial" pitchFamily="34" charset="-120"/>
                        </a:rPr>
                        <a:t>44,168</a:t>
                      </a:r>
                      <a:endParaRPr lang="en-US" sz="14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r" indent="0" marL="0">
                        <a:lnSpc>
                          <a:spcPts val="1960"/>
                        </a:lnSpc>
                        <a:buNone/>
                      </a:pPr>
                      <a:r>
                        <a:rPr lang="en-US" sz="1400" dirty="0">
                          <a:solidFill>
                            <a:srgbClr val="1E2A36"/>
                          </a:solidFill>
                          <a:latin typeface="Arial" pitchFamily="34" charset="0"/>
                          <a:ea typeface="Arial" pitchFamily="34" charset="-122"/>
                          <a:cs typeface="Arial" pitchFamily="34" charset="-120"/>
                        </a:rPr>
                        <a:t>34%</a:t>
                      </a:r>
                      <a:endParaRPr lang="en-US" sz="14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algn="r" indent="0" marL="0">
                        <a:lnSpc>
                          <a:spcPts val="1960"/>
                        </a:lnSpc>
                        <a:buNone/>
                      </a:pPr>
                      <a:r>
                        <a:rPr lang="en-US" sz="1400" dirty="0">
                          <a:solidFill>
                            <a:srgbClr val="1E2A36"/>
                          </a:solidFill>
                          <a:latin typeface="Arial" pitchFamily="34" charset="0"/>
                          <a:ea typeface="Arial" pitchFamily="34" charset="-122"/>
                          <a:cs typeface="Arial" pitchFamily="34" charset="-120"/>
                        </a:rPr>
                        <a:t>−4,814</a:t>
                      </a:r>
                      <a:endParaRPr lang="en-US" sz="1400" dirty="0">
                        <a:latin typeface="Arial" charset="0"/>
                        <a:ea typeface="Arial" charset="0"/>
                        <a:cs typeface="Arial" charset="0"/>
                      </a:endParaRPr>
                    </a:p>
                  </a:txBody>
                  <a:tcPr marL="101600" marR="101600" marT="101600" marB="10160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B8BDC3"/>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bl>
          </a:graphicData>
        </a:graphic>
      </p:graphicFrame>
      <p:sp>
        <p:nvSpPr>
          <p:cNvPr id="12" name="Text 9"/>
          <p:cNvSpPr/>
          <p:nvPr/>
        </p:nvSpPr>
        <p:spPr>
          <a:xfrm>
            <a:off x="5029200" y="5032871"/>
            <a:ext cx="65405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Buyers assumed to behave as before. On the 4,155 new orders, the 250,000 cap would pause 9.4% of orders (30% of premium). A minute-by-minute hedge was also tested: its fees cost more than it saved.</a:t>
            </a:r>
            <a:endParaRPr lang="en-US" sz="1200" dirty="0"/>
          </a:p>
        </p:txBody>
      </p:sp>
      <p:sp>
        <p:nvSpPr>
          <p:cNvPr id="13" name="Text 10"/>
          <p:cNvSpPr/>
          <p:nvPr/>
        </p:nvSpPr>
        <p:spPr>
          <a:xfrm>
            <a:off x="812800" y="6238280"/>
            <a:ext cx="31680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Arial" pitchFamily="34" charset="0"/>
                <a:ea typeface="Arial" pitchFamily="34" charset="-122"/>
                <a:cs typeface="Arial" pitchFamily="34" charset="-120"/>
              </a:rPr>
              <a:t>Jasper Vault · Perpetual Protect pricing</a:t>
            </a:r>
            <a:endParaRPr lang="en-US" sz="1200" dirty="0"/>
          </a:p>
        </p:txBody>
      </p:sp>
      <p:sp>
        <p:nvSpPr>
          <p:cNvPr id="14" name="Text 11"/>
          <p:cNvSpPr/>
          <p:nvPr/>
        </p:nvSpPr>
        <p:spPr>
          <a:xfrm>
            <a:off x="11243618" y="6238280"/>
            <a:ext cx="13558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266AA"/>
                </a:solidFill>
                <a:latin typeface="Arial" pitchFamily="34" charset="0"/>
                <a:ea typeface="Arial" pitchFamily="34" charset="-122"/>
                <a:cs typeface="Arial" pitchFamily="34" charset="-120"/>
              </a:rPr>
              <a:t>08 · LIMITATIONS AND FUTURE WORK</a:t>
            </a:r>
            <a:endParaRPr lang="en-US" sz="1200" dirty="0"/>
          </a:p>
        </p:txBody>
      </p:sp>
      <p:sp>
        <p:nvSpPr>
          <p:cNvPr id="3" name="Text 1"/>
          <p:cNvSpPr/>
          <p:nvPr>
            <p:ph type="title"/>
          </p:nvPr>
        </p:nvSpPr>
        <p:spPr>
          <a:xfrm>
            <a:off x="812800" y="1127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E2A36"/>
                </a:solidFill>
                <a:latin typeface="Arial" pitchFamily="34" charset="0"/>
                <a:ea typeface="Arial" pitchFamily="34" charset="-122"/>
                <a:cs typeface="Arial" pitchFamily="34" charset="-120"/>
              </a:rPr>
              <a:t>What we could not measure, and what comes next</a:t>
            </a:r>
            <a:endParaRPr lang="en-US" sz="3000" dirty="0"/>
          </a:p>
        </p:txBody>
      </p:sp>
      <p:sp>
        <p:nvSpPr>
          <p:cNvPr id="4" name="Text 2"/>
          <p:cNvSpPr/>
          <p:nvPr/>
        </p:nvSpPr>
        <p:spPr>
          <a:xfrm>
            <a:off x="812800" y="1870670"/>
            <a:ext cx="5232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Limitations</a:t>
            </a:r>
            <a:endParaRPr lang="en-US" sz="1400" dirty="0"/>
          </a:p>
        </p:txBody>
      </p:sp>
      <p:pic>
        <p:nvPicPr>
          <p:cNvPr id="5" name="Image 0" descr="line">    </p:cNvPr>
          <p:cNvPicPr>
            <a:picLocks noChangeAspect="1"/>
          </p:cNvPicPr>
          <p:nvPr/>
        </p:nvPicPr>
        <p:blipFill>
          <a:blip r:embed="rId1"/>
          <a:srcRect l="0" r="0" t="0" b="0"/>
          <a:stretch/>
        </p:blipFill>
        <p:spPr>
          <a:xfrm>
            <a:off x="812800" y="2246561"/>
            <a:ext cx="5080000" cy="6350"/>
          </a:xfrm>
          <a:prstGeom prst="rect">
            <a:avLst/>
          </a:prstGeom>
        </p:spPr>
      </p:pic>
      <p:sp>
        <p:nvSpPr>
          <p:cNvPr id="6" name="Text 3"/>
          <p:cNvSpPr/>
          <p:nvPr/>
        </p:nvSpPr>
        <p:spPr>
          <a:xfrm>
            <a:off x="812800" y="2379911"/>
            <a:ext cx="5232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Demand is unknown</a:t>
            </a:r>
            <a:endParaRPr lang="en-US" sz="1400" dirty="0"/>
          </a:p>
        </p:txBody>
      </p:sp>
      <p:sp>
        <p:nvSpPr>
          <p:cNvPr id="7" name="Text 4"/>
          <p:cNvSpPr/>
          <p:nvPr/>
        </p:nvSpPr>
        <p:spPr>
          <a:xfrm>
            <a:off x="812800" y="2654201"/>
            <a:ext cx="52324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Every buyer-response rule is an assumption. If buyers only accept prices no higher than JV’s, the model does not beat JV in July.</a:t>
            </a:r>
            <a:endParaRPr lang="en-US" sz="1200" dirty="0"/>
          </a:p>
        </p:txBody>
      </p:sp>
      <p:sp>
        <p:nvSpPr>
          <p:cNvPr id="8" name="Text 5"/>
          <p:cNvSpPr/>
          <p:nvPr/>
        </p:nvSpPr>
        <p:spPr>
          <a:xfrm>
            <a:off x="812800" y="3207841"/>
            <a:ext cx="5232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Trending months lose at any price</a:t>
            </a:r>
            <a:endParaRPr lang="en-US" sz="1400" dirty="0"/>
          </a:p>
        </p:txBody>
      </p:sp>
      <p:sp>
        <p:nvSpPr>
          <p:cNvPr id="9" name="Text 6"/>
          <p:cNvSpPr/>
          <p:nvPr/>
        </p:nvSpPr>
        <p:spPr>
          <a:xfrm>
            <a:off x="812800" y="3482132"/>
            <a:ext cx="52324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A one-off check after the prices were frozen: August lost 12,667 USDC as BTC rose 25%, and JV’s own prices also lost where visible. September and October were profitable.</a:t>
            </a:r>
            <a:endParaRPr lang="en-US" sz="1200" dirty="0"/>
          </a:p>
        </p:txBody>
      </p:sp>
      <p:sp>
        <p:nvSpPr>
          <p:cNvPr id="10" name="Text 7"/>
          <p:cNvSpPr/>
          <p:nvPr/>
        </p:nvSpPr>
        <p:spPr>
          <a:xfrm>
            <a:off x="812800" y="4249093"/>
            <a:ext cx="5232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Gross profit only</a:t>
            </a:r>
            <a:endParaRPr lang="en-US" sz="1400" dirty="0"/>
          </a:p>
        </p:txBody>
      </p:sp>
      <p:sp>
        <p:nvSpPr>
          <p:cNvPr id="11" name="Text 8"/>
          <p:cNvSpPr/>
          <p:nvPr/>
        </p:nvSpPr>
        <p:spPr>
          <a:xfrm>
            <a:off x="812800" y="4523383"/>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Fees, funding and capital costs are not included.</a:t>
            </a:r>
            <a:endParaRPr lang="en-US" sz="1200" dirty="0"/>
          </a:p>
        </p:txBody>
      </p:sp>
      <p:sp>
        <p:nvSpPr>
          <p:cNvPr id="12" name="Text 9"/>
          <p:cNvSpPr/>
          <p:nvPr/>
        </p:nvSpPr>
        <p:spPr>
          <a:xfrm>
            <a:off x="812800" y="4863703"/>
            <a:ext cx="5232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Small groups</a:t>
            </a:r>
            <a:endParaRPr lang="en-US" sz="1400" dirty="0"/>
          </a:p>
        </p:txBody>
      </p:sp>
      <p:sp>
        <p:nvSpPr>
          <p:cNvPr id="13" name="Text 10"/>
          <p:cNvSpPr/>
          <p:nvPr/>
        </p:nvSpPr>
        <p:spPr>
          <a:xfrm>
            <a:off x="812800" y="5137993"/>
            <a:ext cx="52324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12-hour, 24-hour and release-window orders number only tens to a few hundred.</a:t>
            </a:r>
            <a:endParaRPr lang="en-US" sz="1200" dirty="0"/>
          </a:p>
        </p:txBody>
      </p:sp>
      <p:sp>
        <p:nvSpPr>
          <p:cNvPr id="14" name="Text 11"/>
          <p:cNvSpPr/>
          <p:nvPr/>
        </p:nvSpPr>
        <p:spPr>
          <a:xfrm>
            <a:off x="6299200" y="1870670"/>
            <a:ext cx="5232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Future work</a:t>
            </a:r>
            <a:endParaRPr lang="en-US" sz="1400" dirty="0"/>
          </a:p>
        </p:txBody>
      </p:sp>
      <p:pic>
        <p:nvPicPr>
          <p:cNvPr id="15" name="Image 1" descr="line">    </p:cNvPr>
          <p:cNvPicPr>
            <a:picLocks noChangeAspect="1"/>
          </p:cNvPicPr>
          <p:nvPr/>
        </p:nvPicPr>
        <p:blipFill>
          <a:blip r:embed="rId2"/>
          <a:srcRect l="0" r="0" t="0" b="0"/>
          <a:stretch/>
        </p:blipFill>
        <p:spPr>
          <a:xfrm>
            <a:off x="6299200" y="2246561"/>
            <a:ext cx="5080000" cy="6350"/>
          </a:xfrm>
          <a:prstGeom prst="rect">
            <a:avLst/>
          </a:prstGeom>
        </p:spPr>
      </p:pic>
      <p:sp>
        <p:nvSpPr>
          <p:cNvPr id="16" name="Text 12"/>
          <p:cNvSpPr/>
          <p:nvPr/>
        </p:nvSpPr>
        <p:spPr>
          <a:xfrm>
            <a:off x="6299200" y="2379911"/>
            <a:ext cx="5232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Measure demand</a:t>
            </a:r>
            <a:endParaRPr lang="en-US" sz="1400" dirty="0"/>
          </a:p>
        </p:txBody>
      </p:sp>
      <p:sp>
        <p:nvSpPr>
          <p:cNvPr id="17" name="Text 13"/>
          <p:cNvSpPr/>
          <p:nvPr/>
        </p:nvSpPr>
        <p:spPr>
          <a:xfrm>
            <a:off x="6299200" y="2654201"/>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Run a small randomised price test, for example ±10% on 10% of quotes.</a:t>
            </a:r>
            <a:endParaRPr lang="en-US" sz="1200" dirty="0"/>
          </a:p>
        </p:txBody>
      </p:sp>
      <p:sp>
        <p:nvSpPr>
          <p:cNvPr id="18" name="Text 14"/>
          <p:cNvSpPr/>
          <p:nvPr/>
        </p:nvSpPr>
        <p:spPr>
          <a:xfrm>
            <a:off x="6299200" y="2994521"/>
            <a:ext cx="5232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Use JV’s live order book</a:t>
            </a:r>
            <a:endParaRPr lang="en-US" sz="1400" dirty="0"/>
          </a:p>
        </p:txBody>
      </p:sp>
      <p:sp>
        <p:nvSpPr>
          <p:cNvPr id="19" name="Text 15"/>
          <p:cNvSpPr/>
          <p:nvPr/>
        </p:nvSpPr>
        <p:spPr>
          <a:xfrm>
            <a:off x="6299200" y="3268811"/>
            <a:ext cx="52324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Run the exposure cap, and add the order-flow loading once it beats a flat raise.</a:t>
            </a:r>
            <a:endParaRPr lang="en-US" sz="1200" dirty="0"/>
          </a:p>
        </p:txBody>
      </p:sp>
      <p:sp>
        <p:nvSpPr>
          <p:cNvPr id="20" name="Text 16"/>
          <p:cNvSpPr/>
          <p:nvPr/>
        </p:nvSpPr>
        <p:spPr>
          <a:xfrm>
            <a:off x="6299200" y="3822452"/>
            <a:ext cx="5232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Keep it calibrated</a:t>
            </a:r>
            <a:endParaRPr lang="en-US" sz="1400" dirty="0"/>
          </a:p>
        </p:txBody>
      </p:sp>
      <p:sp>
        <p:nvSpPr>
          <p:cNvPr id="21" name="Text 17"/>
          <p:cNvSpPr/>
          <p:nvPr/>
        </p:nvSpPr>
        <p:spPr>
          <a:xfrm>
            <a:off x="6299200" y="4096742"/>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Refit monthly and track payouts ÷ fair value (1.23 on the new orders).</a:t>
            </a:r>
            <a:endParaRPr lang="en-US" sz="1200" dirty="0"/>
          </a:p>
        </p:txBody>
      </p:sp>
      <p:sp>
        <p:nvSpPr>
          <p:cNvPr id="22" name="Text 18"/>
          <p:cNvSpPr/>
          <p:nvPr/>
        </p:nvSpPr>
        <p:spPr>
          <a:xfrm>
            <a:off x="6299200" y="4437063"/>
            <a:ext cx="5232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36"/>
                </a:solidFill>
                <a:latin typeface="Arial" pitchFamily="34" charset="0"/>
                <a:ea typeface="Arial" pitchFamily="34" charset="-122"/>
                <a:cs typeface="Arial" pitchFamily="34" charset="-120"/>
              </a:rPr>
              <a:t>Other strikes and on-chain use</a:t>
            </a:r>
            <a:endParaRPr lang="en-US" sz="1400" dirty="0"/>
          </a:p>
        </p:txBody>
      </p:sp>
      <p:sp>
        <p:nvSpPr>
          <p:cNvPr id="23" name="Text 19"/>
          <p:cNvSpPr/>
          <p:nvPr/>
        </p:nvSpPr>
        <p:spPr>
          <a:xfrm>
            <a:off x="6299200" y="4711353"/>
            <a:ext cx="52324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Arial" pitchFamily="34" charset="0"/>
                <a:ea typeface="Arial" pitchFamily="34" charset="-122"/>
                <a:cs typeface="Arial" pitchFamily="34" charset="-120"/>
              </a:rPr>
              <a:t>The same formula prices out-of-the-money protection, and the model can run off-chain with an oracle price feed.</a:t>
            </a:r>
            <a:endParaRPr lang="en-US" sz="1200" dirty="0"/>
          </a:p>
        </p:txBody>
      </p:sp>
      <p:sp>
        <p:nvSpPr>
          <p:cNvPr id="24" name="Text 20"/>
          <p:cNvSpPr/>
          <p:nvPr/>
        </p:nvSpPr>
        <p:spPr>
          <a:xfrm>
            <a:off x="812800" y="6238280"/>
            <a:ext cx="31680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3"/>
                </a:solidFill>
                <a:latin typeface="Arial" pitchFamily="34" charset="0"/>
                <a:ea typeface="Arial" pitchFamily="34" charset="-122"/>
                <a:cs typeface="Arial" pitchFamily="34" charset="-120"/>
              </a:rPr>
              <a:t>Jasper Vault · Perpetual Protect pricing</a:t>
            </a:r>
            <a:endParaRPr lang="en-US" sz="1200" dirty="0"/>
          </a:p>
        </p:txBody>
      </p:sp>
      <p:sp>
        <p:nvSpPr>
          <p:cNvPr id="25" name="Text 21"/>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3"/>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A3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B8C8"/>
                </a:solidFill>
                <a:latin typeface="Arial" pitchFamily="34" charset="0"/>
                <a:ea typeface="Arial" pitchFamily="34" charset="-122"/>
                <a:cs typeface="Arial" pitchFamily="34" charset="-120"/>
              </a:rPr>
              <a:t>09 · CONCLUSION</a:t>
            </a:r>
            <a:endParaRPr lang="en-US" sz="1200" dirty="0"/>
          </a:p>
        </p:txBody>
      </p:sp>
      <p:sp>
        <p:nvSpPr>
          <p:cNvPr id="3" name="Text 1"/>
          <p:cNvSpPr/>
          <p:nvPr>
            <p:ph type="title"/>
          </p:nvPr>
        </p:nvSpPr>
        <p:spPr>
          <a:xfrm>
            <a:off x="812800" y="1127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F3F4EF"/>
                </a:solidFill>
                <a:latin typeface="Arial" pitchFamily="34" charset="0"/>
                <a:ea typeface="Arial" pitchFamily="34" charset="-122"/>
                <a:cs typeface="Arial" pitchFamily="34" charset="-120"/>
              </a:rPr>
              <a:t>Model the payout, add a fair margin, cap the risk</a:t>
            </a:r>
            <a:endParaRPr lang="en-US" sz="3000" dirty="0"/>
          </a:p>
        </p:txBody>
      </p:sp>
      <p:sp>
        <p:nvSpPr>
          <p:cNvPr id="4" name="Shape 2"/>
          <p:cNvSpPr/>
          <p:nvPr/>
        </p:nvSpPr>
        <p:spPr>
          <a:xfrm>
            <a:off x="815975" y="1924645"/>
            <a:ext cx="3380284" cy="2175371"/>
          </a:xfrm>
          <a:prstGeom prst="roundRect">
            <a:avLst>
              <a:gd name="adj" fmla="val 3357"/>
            </a:avLst>
          </a:prstGeom>
          <a:solidFill>
            <a:srgbClr val="263545"/>
          </a:solidFill>
          <a:ln w="6350">
            <a:solidFill>
              <a:srgbClr val="34465A"/>
            </a:solidFill>
            <a:prstDash val="solid"/>
          </a:ln>
        </p:spPr>
      </p:sp>
      <p:sp>
        <p:nvSpPr>
          <p:cNvPr id="5" name="Text 3"/>
          <p:cNvSpPr/>
          <p:nvPr/>
        </p:nvSpPr>
        <p:spPr>
          <a:xfrm>
            <a:off x="1073150" y="2181820"/>
            <a:ext cx="295191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8FB3DA"/>
                </a:solidFill>
                <a:latin typeface="Arial" pitchFamily="34" charset="0"/>
                <a:ea typeface="Arial" pitchFamily="34" charset="-122"/>
                <a:cs typeface="Arial" pitchFamily="34" charset="-120"/>
              </a:rPr>
              <a:t>1</a:t>
            </a:r>
            <a:endParaRPr lang="en-US" sz="2000" dirty="0"/>
          </a:p>
        </p:txBody>
      </p:sp>
      <p:sp>
        <p:nvSpPr>
          <p:cNvPr id="6" name="Text 4"/>
          <p:cNvSpPr/>
          <p:nvPr/>
        </p:nvSpPr>
        <p:spPr>
          <a:xfrm>
            <a:off x="1073150" y="2639020"/>
            <a:ext cx="2951912"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3F4EF"/>
                </a:solidFill>
                <a:latin typeface="Arial" pitchFamily="34" charset="0"/>
                <a:ea typeface="Arial" pitchFamily="34" charset="-122"/>
                <a:cs typeface="Arial" pitchFamily="34" charset="-120"/>
              </a:rPr>
              <a:t>Price each order at fair value × 1.25, never below JV’s base price</a:t>
            </a:r>
            <a:endParaRPr lang="en-US" sz="1400" dirty="0"/>
          </a:p>
        </p:txBody>
      </p:sp>
      <p:sp>
        <p:nvSpPr>
          <p:cNvPr id="7" name="Text 5"/>
          <p:cNvSpPr/>
          <p:nvPr/>
        </p:nvSpPr>
        <p:spPr>
          <a:xfrm>
            <a:off x="1073150" y="3202880"/>
            <a:ext cx="295191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DC"/>
                </a:solidFill>
                <a:latin typeface="Arial" pitchFamily="34" charset="0"/>
                <a:ea typeface="Arial" pitchFamily="34" charset="-122"/>
                <a:cs typeface="Arial" pitchFamily="34" charset="-120"/>
              </a:rPr>
              <a:t>4,155 new orders priced, 205,824 USDC in total, about 4% below JV where its price is visible.</a:t>
            </a:r>
            <a:endParaRPr lang="en-US" sz="1200" dirty="0"/>
          </a:p>
        </p:txBody>
      </p:sp>
      <p:sp>
        <p:nvSpPr>
          <p:cNvPr id="8" name="Shape 6"/>
          <p:cNvSpPr/>
          <p:nvPr/>
        </p:nvSpPr>
        <p:spPr>
          <a:xfrm>
            <a:off x="4405809" y="1924645"/>
            <a:ext cx="3380333" cy="2175371"/>
          </a:xfrm>
          <a:prstGeom prst="roundRect">
            <a:avLst>
              <a:gd name="adj" fmla="val 3357"/>
            </a:avLst>
          </a:prstGeom>
          <a:solidFill>
            <a:srgbClr val="263545"/>
          </a:solidFill>
          <a:ln w="6350">
            <a:solidFill>
              <a:srgbClr val="34465A"/>
            </a:solidFill>
            <a:prstDash val="solid"/>
          </a:ln>
        </p:spPr>
      </p:sp>
      <p:sp>
        <p:nvSpPr>
          <p:cNvPr id="9" name="Text 7"/>
          <p:cNvSpPr/>
          <p:nvPr/>
        </p:nvSpPr>
        <p:spPr>
          <a:xfrm>
            <a:off x="4662984" y="2181820"/>
            <a:ext cx="2951963"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8FB3DA"/>
                </a:solidFill>
                <a:latin typeface="Arial" pitchFamily="34" charset="0"/>
                <a:ea typeface="Arial" pitchFamily="34" charset="-122"/>
                <a:cs typeface="Arial" pitchFamily="34" charset="-120"/>
              </a:rPr>
              <a:t>2</a:t>
            </a:r>
            <a:endParaRPr lang="en-US" sz="2000" dirty="0"/>
          </a:p>
        </p:txBody>
      </p:sp>
      <p:sp>
        <p:nvSpPr>
          <p:cNvPr id="10" name="Text 8"/>
          <p:cNvSpPr/>
          <p:nvPr/>
        </p:nvSpPr>
        <p:spPr>
          <a:xfrm>
            <a:off x="4662984" y="2639020"/>
            <a:ext cx="2951963"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3F4EF"/>
                </a:solidFill>
                <a:latin typeface="Arial" pitchFamily="34" charset="0"/>
                <a:ea typeface="Arial" pitchFamily="34" charset="-122"/>
                <a:cs typeface="Arial" pitchFamily="34" charset="-120"/>
              </a:rPr>
              <a:t>Cap open protection at 250,000 USDC per direction</a:t>
            </a:r>
            <a:endParaRPr lang="en-US" sz="1400" dirty="0"/>
          </a:p>
        </p:txBody>
      </p:sp>
      <p:sp>
        <p:nvSpPr>
          <p:cNvPr id="11" name="Text 9"/>
          <p:cNvSpPr/>
          <p:nvPr/>
        </p:nvSpPr>
        <p:spPr>
          <a:xfrm>
            <a:off x="4662984" y="3202880"/>
            <a:ext cx="295196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DC"/>
                </a:solidFill>
                <a:latin typeface="Arial" pitchFamily="34" charset="0"/>
                <a:ea typeface="Arial" pitchFamily="34" charset="-122"/>
                <a:cs typeface="Arial" pitchFamily="34" charset="-120"/>
              </a:rPr>
              <a:t>The worst training day improves from −8,399 to −6,594 USDC for 11% of profit.</a:t>
            </a:r>
            <a:endParaRPr lang="en-US" sz="1200" dirty="0"/>
          </a:p>
        </p:txBody>
      </p:sp>
      <p:sp>
        <p:nvSpPr>
          <p:cNvPr id="12" name="Shape 10"/>
          <p:cNvSpPr/>
          <p:nvPr/>
        </p:nvSpPr>
        <p:spPr>
          <a:xfrm>
            <a:off x="7995692" y="1924645"/>
            <a:ext cx="3380333" cy="2175371"/>
          </a:xfrm>
          <a:prstGeom prst="roundRect">
            <a:avLst>
              <a:gd name="adj" fmla="val 3357"/>
            </a:avLst>
          </a:prstGeom>
          <a:solidFill>
            <a:srgbClr val="263545"/>
          </a:solidFill>
          <a:ln w="6350">
            <a:solidFill>
              <a:srgbClr val="34465A"/>
            </a:solidFill>
            <a:prstDash val="solid"/>
          </a:ln>
        </p:spPr>
      </p:sp>
      <p:sp>
        <p:nvSpPr>
          <p:cNvPr id="13" name="Text 11"/>
          <p:cNvSpPr/>
          <p:nvPr/>
        </p:nvSpPr>
        <p:spPr>
          <a:xfrm>
            <a:off x="8252867" y="2181820"/>
            <a:ext cx="2951963"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8FB3DA"/>
                </a:solidFill>
                <a:latin typeface="Arial" pitchFamily="34" charset="0"/>
                <a:ea typeface="Arial" pitchFamily="34" charset="-122"/>
                <a:cs typeface="Arial" pitchFamily="34" charset="-120"/>
              </a:rPr>
              <a:t>3</a:t>
            </a:r>
            <a:endParaRPr lang="en-US" sz="2000" dirty="0"/>
          </a:p>
        </p:txBody>
      </p:sp>
      <p:sp>
        <p:nvSpPr>
          <p:cNvPr id="14" name="Text 12"/>
          <p:cNvSpPr/>
          <p:nvPr/>
        </p:nvSpPr>
        <p:spPr>
          <a:xfrm>
            <a:off x="8252867" y="2639020"/>
            <a:ext cx="2951963"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3F4EF"/>
                </a:solidFill>
                <a:latin typeface="Arial" pitchFamily="34" charset="0"/>
                <a:ea typeface="Arial" pitchFamily="34" charset="-122"/>
                <a:cs typeface="Arial" pitchFamily="34" charset="-120"/>
              </a:rPr>
              <a:t>Run a small price test before changing the margin</a:t>
            </a:r>
            <a:endParaRPr lang="en-US" sz="1400" dirty="0"/>
          </a:p>
        </p:txBody>
      </p:sp>
      <p:sp>
        <p:nvSpPr>
          <p:cNvPr id="15" name="Text 13"/>
          <p:cNvSpPr/>
          <p:nvPr/>
        </p:nvSpPr>
        <p:spPr>
          <a:xfrm>
            <a:off x="8252867" y="3202880"/>
            <a:ext cx="295196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DC"/>
                </a:solidFill>
                <a:latin typeface="Arial" pitchFamily="34" charset="0"/>
                <a:ea typeface="Arial" pitchFamily="34" charset="-122"/>
                <a:cs typeface="Arial" pitchFamily="34" charset="-120"/>
              </a:rPr>
              <a:t>Measure how many buyers a higher or lower price wins or loses.</a:t>
            </a:r>
            <a:endParaRPr lang="en-US" sz="1200" dirty="0"/>
          </a:p>
        </p:txBody>
      </p:sp>
      <p:sp>
        <p:nvSpPr>
          <p:cNvPr id="16" name="Text 14"/>
          <p:cNvSpPr/>
          <p:nvPr/>
        </p:nvSpPr>
        <p:spPr>
          <a:xfrm>
            <a:off x="812800" y="445879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C"/>
                </a:solidFill>
                <a:latin typeface="Arial" pitchFamily="34" charset="0"/>
                <a:ea typeface="Arial" pitchFamily="34" charset="-122"/>
                <a:cs typeface="Arial" pitchFamily="34" charset="-120"/>
              </a:rPr>
              <a:t>Thank you. Questions are welcome.</a:t>
            </a:r>
            <a:endParaRPr lang="en-US" sz="1400" dirty="0"/>
          </a:p>
        </p:txBody>
      </p:sp>
    </p:spTree>
  </p:cSld>
  <p:clrMapOvr>
    <a:masterClrMapping/>
  </p:clrMapOvr>
</p:sld>
</file>

<file path=ppt/theme/theme1.xml><?xml version="1.0" encoding="utf-8"?>
<a:theme xmlns:a="http://schemas.openxmlformats.org/drawingml/2006/main" name="Pricing Perpetual Protect">
  <a:themeElements>
    <a:clrScheme name="Pricing Perpetual Protect">
      <a:dk1>
        <a:srgbClr val="1E2A36"/>
      </a:dk1>
      <a:lt1>
        <a:srgbClr val="FAFAF7"/>
      </a:lt1>
      <a:dk2>
        <a:srgbClr val="555E66"/>
      </a:dk2>
      <a:lt2>
        <a:srgbClr val="E4E5E4"/>
      </a:lt2>
      <a:accent1>
        <a:srgbClr val="2266AA"/>
      </a:accent1>
      <a:accent2>
        <a:srgbClr val="C47A35"/>
      </a:accent2>
      <a:accent3>
        <a:srgbClr val="8FB3DA"/>
      </a:accent3>
      <a:accent4>
        <a:srgbClr val="4A5563"/>
      </a:accent4>
      <a:accent5>
        <a:srgbClr val="5F6873"/>
      </a:accent5>
      <a:accent6>
        <a:srgbClr val="A9B8C8"/>
      </a:accent6>
      <a:hlink>
        <a:srgbClr val="0563C1"/>
      </a:hlink>
      <a:folHlink>
        <a:srgbClr val="954F72"/>
      </a:folHlink>
    </a:clrScheme>
    <a:fontScheme name="Pricing Perpetual Protec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Pricing Perpetual Protect</dc:title>
  <dc:subject/>
  <dc:creator/>
  <cp:lastModifiedBy/>
  <cp:revision>1</cp:revision>
  <dcterms:created xsi:type="dcterms:W3CDTF">2026-10-17T15:33:31Z</dcterms:created>
  <dcterms:modified xsi:type="dcterms:W3CDTF">2026-10-17T15:33:31Z</dcterms:modified>
</cp:coreProperties>
</file>